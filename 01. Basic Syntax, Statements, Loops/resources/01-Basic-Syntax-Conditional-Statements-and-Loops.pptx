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321" r:id="rId5"/>
    <p:sldId id="322" r:id="rId6"/>
    <p:sldId id="323" r:id="rId7"/>
    <p:sldId id="324" r:id="rId8"/>
    <p:sldId id="325" r:id="rId9"/>
    <p:sldId id="259" r:id="rId10"/>
    <p:sldId id="260" r:id="rId11"/>
    <p:sldId id="302" r:id="rId12"/>
    <p:sldId id="304" r:id="rId13"/>
    <p:sldId id="303" r:id="rId14"/>
    <p:sldId id="305" r:id="rId15"/>
    <p:sldId id="32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279" r:id="rId31"/>
    <p:sldId id="280" r:id="rId32"/>
    <p:sldId id="401" r:id="rId33"/>
    <p:sldId id="494" r:id="rId34"/>
    <p:sldId id="40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9734838-D4CA-4655-A77E-76D6395450E5}">
          <p14:sldIdLst>
            <p14:sldId id="256"/>
            <p14:sldId id="257"/>
            <p14:sldId id="258"/>
          </p14:sldIdLst>
        </p14:section>
        <p14:section name="Basic Syntax" id="{1ECCB3A9-18D3-4E87-B9E4-3C8088295BC1}">
          <p14:sldIdLst>
            <p14:sldId id="321"/>
            <p14:sldId id="322"/>
            <p14:sldId id="323"/>
            <p14:sldId id="324"/>
            <p14:sldId id="325"/>
          </p14:sldIdLst>
        </p14:section>
        <p14:section name="Conditional Statements" id="{67F50B3D-FA94-42DB-894E-D6EFDE82234D}">
          <p14:sldIdLst>
            <p14:sldId id="259"/>
            <p14:sldId id="260"/>
            <p14:sldId id="302"/>
            <p14:sldId id="304"/>
            <p14:sldId id="303"/>
            <p14:sldId id="305"/>
            <p14:sldId id="326"/>
            <p14:sldId id="307"/>
            <p14:sldId id="308"/>
            <p14:sldId id="309"/>
            <p14:sldId id="310"/>
          </p14:sldIdLst>
        </p14:section>
        <p14:section name="Loops" id="{69281CD5-0548-49A6-A65A-AD730D6ADDD3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  <p14:section name="Live Exercises" id="{E3FC4F1E-C06E-464B-A371-3C1707D791FB}">
          <p14:sldIdLst>
            <p14:sldId id="279"/>
          </p14:sldIdLst>
        </p14:section>
        <p14:section name="Conclusion" id="{77333BC0-5971-496B-A22C-C8ED8ED89AF8}">
          <p14:sldIdLst>
            <p14:sldId id="280"/>
            <p14:sldId id="401"/>
            <p14:sldId id="494"/>
            <p14:sldId id="4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5214" autoAdjust="0"/>
  </p:normalViewPr>
  <p:slideViewPr>
    <p:cSldViewPr showGuides="1">
      <p:cViewPr varScale="1">
        <p:scale>
          <a:sx n="49" d="100"/>
          <a:sy n="49" d="100"/>
        </p:scale>
        <p:origin x="86" y="701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1860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10.8.2021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DAF8952-E48A-4E5C-8BD5-F70AE11035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610904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6D83A63-EA65-4A6B-A9BD-75AB1DD944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609027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A3F0D92-38C9-4DE6-BF76-63F7C25632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268030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BBA6757-8222-47A2-95ED-71E10293D0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64098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041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C77F2-5C89-4F9E-B2E0-8026E1A640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938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hyperlink" Target="https://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13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9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13" name="Picture Logo SoftUni" descr="SoftUni logo">
            <a:extLst>
              <a:ext uri="{FF2B5EF4-FFF2-40B4-BE49-F238E27FC236}">
                <a16:creationId xmlns:a16="http://schemas.microsoft.com/office/drawing/2014/main" id="{A5583402-2EBC-4765-A88A-0595FF6E0F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pic>
        <p:nvPicPr>
          <p:cNvPr id="15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FC57BF5-3FB5-4771-8357-C12EED64BC2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7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53398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7D1E1E9D-179A-4C4D-A78F-DC9000E14D42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9" name="Logo Software University" descr="Software University logo">
            <a:extLst>
              <a:ext uri="{FF2B5EF4-FFF2-40B4-BE49-F238E27FC236}">
                <a16:creationId xmlns:a16="http://schemas.microsoft.com/office/drawing/2014/main" id="{E26208A8-85E7-46BE-8027-8507CF15D5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3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Logo Software University" descr="Software University logo">
            <a:extLst>
              <a:ext uri="{FF2B5EF4-FFF2-40B4-BE49-F238E27FC236}">
                <a16:creationId xmlns:a16="http://schemas.microsoft.com/office/drawing/2014/main" id="{25690DBE-1A46-46C5-96BE-B4455D365C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Logo Software University" descr="Software University logo">
            <a:extLst>
              <a:ext uri="{FF2B5EF4-FFF2-40B4-BE49-F238E27FC236}">
                <a16:creationId xmlns:a16="http://schemas.microsoft.com/office/drawing/2014/main" id="{5903E1EA-4E44-4A5B-9017-2ACEB8C0A4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05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Rectangle Left">
            <a:extLst>
              <a:ext uri="{FF2B5EF4-FFF2-40B4-BE49-F238E27FC236}">
                <a16:creationId xmlns:a16="http://schemas.microsoft.com/office/drawing/2014/main" id="{4C456ADD-D30E-4B2C-9F60-42D0E259B55C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26" name="Picture Bulb" descr="Bulb">
            <a:extLst>
              <a:ext uri="{FF2B5EF4-FFF2-40B4-BE49-F238E27FC236}">
                <a16:creationId xmlns:a16="http://schemas.microsoft.com/office/drawing/2014/main" id="{03869A5A-5453-45FD-B798-E803BD89E7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24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2" name="Rectangle Top">
            <a:extLst>
              <a:ext uri="{FF2B5EF4-FFF2-40B4-BE49-F238E27FC236}">
                <a16:creationId xmlns:a16="http://schemas.microsoft.com/office/drawing/2014/main" id="{2390222C-77F9-4BE6-A244-09D0B065D706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3" name="Logo Software University" descr="Software University logo">
            <a:extLst>
              <a:ext uri="{FF2B5EF4-FFF2-40B4-BE49-F238E27FC236}">
                <a16:creationId xmlns:a16="http://schemas.microsoft.com/office/drawing/2014/main" id="{273D2128-F0C8-4D95-82B6-373B324F05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5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sp>
        <p:nvSpPr>
          <p:cNvPr id="12" name="Rectangle Top">
            <a:extLst>
              <a:ext uri="{FF2B5EF4-FFF2-40B4-BE49-F238E27FC236}">
                <a16:creationId xmlns:a16="http://schemas.microsoft.com/office/drawing/2014/main" id="{EDA3C633-BFF8-4071-A1C0-408C7362C1FF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CA331CFD-1421-4887-8C43-D337D13FB85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71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6" name="Rectangle Top">
            <a:extLst>
              <a:ext uri="{FF2B5EF4-FFF2-40B4-BE49-F238E27FC236}">
                <a16:creationId xmlns:a16="http://schemas.microsoft.com/office/drawing/2014/main" id="{B6B9F138-1AAD-46AE-A36F-48369F36490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7" name="Logo Software University" descr="Software University logo">
            <a:extLst>
              <a:ext uri="{FF2B5EF4-FFF2-40B4-BE49-F238E27FC236}">
                <a16:creationId xmlns:a16="http://schemas.microsoft.com/office/drawing/2014/main" id="{29A6A3E3-766F-451A-B7B2-E0DEAE1591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6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6" name="Rectangle Top">
            <a:extLst>
              <a:ext uri="{FF2B5EF4-FFF2-40B4-BE49-F238E27FC236}">
                <a16:creationId xmlns:a16="http://schemas.microsoft.com/office/drawing/2014/main" id="{FC31AE8C-0AED-45BE-94BB-5BF757C0D32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7" name="Logo Software University" descr="Software University logo">
            <a:extLst>
              <a:ext uri="{FF2B5EF4-FFF2-40B4-BE49-F238E27FC236}">
                <a16:creationId xmlns:a16="http://schemas.microsoft.com/office/drawing/2014/main" id="{951A95A5-7C10-45DD-8A34-BB57CF215C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9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title style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37" name="Rectangle Bottom">
            <a:extLst>
              <a:ext uri="{FF2B5EF4-FFF2-40B4-BE49-F238E27FC236}">
                <a16:creationId xmlns:a16="http://schemas.microsoft.com/office/drawing/2014/main" id="{8ECBD33B-0846-4B48-BC81-CE5FB18B1437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8" name="Rectangle Bottom Copyright">
            <a:extLst>
              <a:ext uri="{FF2B5EF4-FFF2-40B4-BE49-F238E27FC236}">
                <a16:creationId xmlns:a16="http://schemas.microsoft.com/office/drawing/2014/main" id="{501DEE55-5F7C-463B-9690-88D24B85317F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Group SoftUni Brands">
            <a:extLst>
              <a:ext uri="{FF2B5EF4-FFF2-40B4-BE49-F238E27FC236}">
                <a16:creationId xmlns:a16="http://schemas.microsoft.com/office/drawing/2014/main" id="{C55F628C-E175-46E2-8349-07776E99C409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40" name="Picture SoftUni Kids Logo" descr="SoftUni Kids logo">
              <a:extLst>
                <a:ext uri="{FF2B5EF4-FFF2-40B4-BE49-F238E27FC236}">
                  <a16:creationId xmlns:a16="http://schemas.microsoft.com/office/drawing/2014/main" id="{66641BF2-8C3B-4794-8E90-6E5369C47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41" name="Picture SoftUni Foundation Logo" descr="SoftUni Foundation logo">
              <a:extLst>
                <a:ext uri="{FF2B5EF4-FFF2-40B4-BE49-F238E27FC236}">
                  <a16:creationId xmlns:a16="http://schemas.microsoft.com/office/drawing/2014/main" id="{70ADE631-B7A1-484F-B566-7DD1902A9A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42" name="Picture SoftUni Digital Logo" descr="SoftUni Digital logo">
              <a:extLst>
                <a:ext uri="{FF2B5EF4-FFF2-40B4-BE49-F238E27FC236}">
                  <a16:creationId xmlns:a16="http://schemas.microsoft.com/office/drawing/2014/main" id="{6389195C-B053-42ED-9504-389403B724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43" name="Picture SoftUni Creative Logo" descr="SoftUni Creative logo">
              <a:extLst>
                <a:ext uri="{FF2B5EF4-FFF2-40B4-BE49-F238E27FC236}">
                  <a16:creationId xmlns:a16="http://schemas.microsoft.com/office/drawing/2014/main" id="{DB548E73-BB7F-429F-BDA8-DC1EEF650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44" name="Picture SoftUni Svetlina Logo" descr="SoftUni Svetlina logo">
              <a:extLst>
                <a:ext uri="{FF2B5EF4-FFF2-40B4-BE49-F238E27FC236}">
                  <a16:creationId xmlns:a16="http://schemas.microsoft.com/office/drawing/2014/main" id="{109BF951-4B0C-4DAB-82B8-7849BE6F3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45" name="Picture Software University Logo" descr="Software University logo">
              <a:extLst>
                <a:ext uri="{FF2B5EF4-FFF2-40B4-BE49-F238E27FC236}">
                  <a16:creationId xmlns:a16="http://schemas.microsoft.com/office/drawing/2014/main" id="{1F72F5E0-40B5-4384-9572-CE9B7A157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46" name="Straight Connector 6">
              <a:extLst>
                <a:ext uri="{FF2B5EF4-FFF2-40B4-BE49-F238E27FC236}">
                  <a16:creationId xmlns:a16="http://schemas.microsoft.com/office/drawing/2014/main" id="{D426598E-9F36-4C6E-9E6D-60A3F36C0F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5">
              <a:extLst>
                <a:ext uri="{FF2B5EF4-FFF2-40B4-BE49-F238E27FC236}">
                  <a16:creationId xmlns:a16="http://schemas.microsoft.com/office/drawing/2014/main" id="{3E17FFCA-74E0-4CE6-924F-25FED0D11D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">
              <a:extLst>
                <a:ext uri="{FF2B5EF4-FFF2-40B4-BE49-F238E27FC236}">
                  <a16:creationId xmlns:a16="http://schemas.microsoft.com/office/drawing/2014/main" id="{6EAE214F-77F6-421E-AA21-FA6EE67DA98E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3">
              <a:extLst>
                <a:ext uri="{FF2B5EF4-FFF2-40B4-BE49-F238E27FC236}">
                  <a16:creationId xmlns:a16="http://schemas.microsoft.com/office/drawing/2014/main" id="{62F154BE-EBAA-4D43-A3E3-A0E42E7EFFDD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2">
              <a:extLst>
                <a:ext uri="{FF2B5EF4-FFF2-40B4-BE49-F238E27FC236}">
                  <a16:creationId xmlns:a16="http://schemas.microsoft.com/office/drawing/2014/main" id="{8EAFA7E9-ADB6-4479-B4A5-ADE0190BE44E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">
              <a:extLst>
                <a:ext uri="{FF2B5EF4-FFF2-40B4-BE49-F238E27FC236}">
                  <a16:creationId xmlns:a16="http://schemas.microsoft.com/office/drawing/2014/main" id="{D99989EE-0CD2-4783-AF55-34E649DF1710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Horizontal">
              <a:extLst>
                <a:ext uri="{FF2B5EF4-FFF2-40B4-BE49-F238E27FC236}">
                  <a16:creationId xmlns:a16="http://schemas.microsoft.com/office/drawing/2014/main" id="{712F209B-5139-4F7F-B5BB-FA14D1C670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0">
              <a:extLst>
                <a:ext uri="{FF2B5EF4-FFF2-40B4-BE49-F238E27FC236}">
                  <a16:creationId xmlns:a16="http://schemas.microsoft.com/office/drawing/2014/main" id="{E5D974AB-8F7A-4CCB-9A4B-8B1B01319C2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SoftUni Logo" descr="SoftUni logo">
              <a:extLst>
                <a:ext uri="{FF2B5EF4-FFF2-40B4-BE49-F238E27FC236}">
                  <a16:creationId xmlns:a16="http://schemas.microsoft.com/office/drawing/2014/main" id="{BB36FD3C-1C0B-473A-85CB-8968304BD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pic>
        <p:nvPicPr>
          <p:cNvPr id="56" name="Logo Software University" descr="Software University logo">
            <a:extLst>
              <a:ext uri="{FF2B5EF4-FFF2-40B4-BE49-F238E27FC236}">
                <a16:creationId xmlns:a16="http://schemas.microsoft.com/office/drawing/2014/main" id="{931240CE-4D38-403C-98D4-6C0B9CFA6B8C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8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  <p:pic>
        <p:nvPicPr>
          <p:cNvPr id="14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BA2F4515-ED4E-4687-960D-A0AC0C067A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5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570FEED1-4E7D-4A66-857B-52949BD40E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A47E1CD0-8EE4-4BDE-8585-A2EE32FDEA92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sp>
        <p:nvSpPr>
          <p:cNvPr id="22" name="Rectangle Top">
            <a:extLst>
              <a:ext uri="{FF2B5EF4-FFF2-40B4-BE49-F238E27FC236}">
                <a16:creationId xmlns:a16="http://schemas.microsoft.com/office/drawing/2014/main" id="{7FDE056A-F156-4144-AFD6-C7CBECDCE413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23" name="Logo Software University" descr="Software University logo">
            <a:extLst>
              <a:ext uri="{FF2B5EF4-FFF2-40B4-BE49-F238E27FC236}">
                <a16:creationId xmlns:a16="http://schemas.microsoft.com/office/drawing/2014/main" id="{02C5CD17-CB35-4EB7-A9ED-9A8A164DF83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1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pic>
        <p:nvPicPr>
          <p:cNvPr id="5" name="Picture Background" descr="SoftUni Background">
            <a:extLst>
              <a:ext uri="{FF2B5EF4-FFF2-40B4-BE49-F238E27FC236}">
                <a16:creationId xmlns:a16="http://schemas.microsoft.com/office/drawing/2014/main" id="{0904BCC7-53E4-417D-805C-7AE53707AB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9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softuni.b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jetbrains.com/pycharm/download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hyperlink" Target="https://softuni.bg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softuni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8643853" y="6298784"/>
            <a:ext cx="2951518" cy="351497"/>
          </a:xfrm>
        </p:spPr>
        <p:txBody>
          <a:bodyPr/>
          <a:lstStyle/>
          <a:p>
            <a:r>
              <a:rPr lang="en-US">
                <a:hlinkClick r:id="rId2"/>
              </a:rPr>
              <a:t>https://softuni.bg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643853" y="5916252"/>
            <a:ext cx="2951518" cy="382532"/>
          </a:xfrm>
        </p:spPr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71147" y="5368869"/>
            <a:ext cx="2951518" cy="444536"/>
          </a:xfrm>
        </p:spPr>
        <p:txBody>
          <a:bodyPr/>
          <a:lstStyle/>
          <a:p>
            <a:r>
              <a:rPr lang="en-US" dirty="0"/>
              <a:t>Technical Trainers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671147" y="4876928"/>
            <a:ext cx="2951518" cy="506540"/>
          </a:xfrm>
        </p:spPr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26003"/>
            <a:ext cx="12191999" cy="1257997"/>
          </a:xfrm>
        </p:spPr>
        <p:txBody>
          <a:bodyPr>
            <a:noAutofit/>
          </a:bodyPr>
          <a:lstStyle/>
          <a:p>
            <a:r>
              <a:rPr lang="en-US" sz="4800" dirty="0"/>
              <a:t>Basic Syntax, Conditional Statements</a:t>
            </a:r>
            <a:br>
              <a:rPr lang="en-US" sz="4800" dirty="0"/>
            </a:br>
            <a:r>
              <a:rPr lang="en-US" sz="4800" dirty="0"/>
              <a:t>and Loops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22" y="2236121"/>
            <a:ext cx="2037164" cy="246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3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Syntax and First Steps</a:t>
            </a:r>
          </a:p>
          <a:p>
            <a:r>
              <a:rPr lang="en-US" dirty="0"/>
              <a:t>Conditional Statements</a:t>
            </a:r>
          </a:p>
          <a:p>
            <a:pPr lvl="1"/>
            <a:r>
              <a:rPr lang="en-US" dirty="0"/>
              <a:t>if,</a:t>
            </a:r>
            <a:r>
              <a:rPr lang="bg-BG" dirty="0"/>
              <a:t> </a:t>
            </a:r>
            <a:r>
              <a:rPr lang="en-US" dirty="0"/>
              <a:t>elif</a:t>
            </a:r>
            <a:r>
              <a:rPr lang="bg-BG" dirty="0"/>
              <a:t>, </a:t>
            </a:r>
            <a:r>
              <a:rPr lang="en-US" dirty="0"/>
              <a:t>else</a:t>
            </a:r>
          </a:p>
          <a:p>
            <a:pPr lvl="1"/>
            <a:r>
              <a:rPr lang="en-US" dirty="0"/>
              <a:t>indentation</a:t>
            </a:r>
          </a:p>
          <a:p>
            <a:pPr lvl="1"/>
            <a:r>
              <a:rPr lang="en-US" dirty="0"/>
              <a:t>and, or</a:t>
            </a:r>
            <a:endParaRPr lang="bg-BG" dirty="0"/>
          </a:p>
          <a:p>
            <a:r>
              <a:rPr lang="en-US" dirty="0"/>
              <a:t>Loops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2A36C9B-F722-426B-98B5-1A1F68F6B67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53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0A92FF3C-EA93-4F4C-9F6F-3590B9C9E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#fund-python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</p:spTree>
    <p:extLst>
      <p:ext uri="{BB962C8B-B14F-4D97-AF65-F5344CB8AC3E}">
        <p14:creationId xmlns:p14="http://schemas.microsoft.com/office/powerpoint/2010/main" val="169199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8972-B4C2-4AA3-9E45-F991955FDDB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Basic Syntax and First Steps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952" y="1449000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9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600" dirty="0"/>
              <a:t>Go to </a:t>
            </a:r>
            <a:r>
              <a:rPr lang="en-US" sz="36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/>
              <a:t>and click the download link depending on </a:t>
            </a:r>
            <a:br>
              <a:rPr lang="en-US" sz="3600" dirty="0"/>
            </a:br>
            <a:r>
              <a:rPr lang="en-US" sz="3600" dirty="0"/>
              <a:t>your operating system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8" y="2555367"/>
            <a:ext cx="11430000" cy="3905250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E5F182A1-630E-4934-9AA3-21F28938A298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55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600" dirty="0"/>
              <a:t>You can code and execute python directly in the command </a:t>
            </a:r>
            <a:br>
              <a:rPr lang="en-US" sz="3600" dirty="0"/>
            </a:br>
            <a:r>
              <a:rPr lang="en-US" sz="3600" dirty="0"/>
              <a:t>prompt by typing </a:t>
            </a:r>
            <a:r>
              <a:rPr lang="en-US" sz="3600" b="1" dirty="0">
                <a:latin typeface="Consolas" panose="020B0609020204030204" pitchFamily="49" charset="0"/>
              </a:rPr>
              <a:t>"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python</a:t>
            </a:r>
            <a:r>
              <a:rPr lang="en-US" sz="3600" b="1" dirty="0">
                <a:latin typeface="Consolas" panose="020B0609020204030204" pitchFamily="49" charset="0"/>
              </a:rPr>
              <a:t>"</a:t>
            </a:r>
            <a:r>
              <a:rPr lang="en-US" sz="3600" dirty="0"/>
              <a:t> or </a:t>
            </a:r>
            <a:r>
              <a:rPr lang="en-US" sz="3600" b="1" dirty="0">
                <a:latin typeface="Consolas" panose="020B0609020204030204" pitchFamily="49" charset="0"/>
              </a:rPr>
              <a:t>"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py</a:t>
            </a:r>
            <a:r>
              <a:rPr lang="en-US" sz="3600" b="1" dirty="0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Python in Command Prompt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838" y="2810958"/>
            <a:ext cx="8553450" cy="31318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49ECF7C3-765A-47E7-8AED-736E56ABBA58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75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You can also code in Python using </a:t>
            </a:r>
            <a:r>
              <a:rPr lang="en-US" b="1" dirty="0">
                <a:solidFill>
                  <a:schemeClr val="bg1"/>
                </a:solidFill>
              </a:rPr>
              <a:t>IDE</a:t>
            </a:r>
            <a:r>
              <a:rPr lang="en-US" dirty="0"/>
              <a:t> (for example: </a:t>
            </a:r>
            <a:r>
              <a:rPr lang="en-US" b="1" dirty="0">
                <a:solidFill>
                  <a:schemeClr val="bg1"/>
                </a:solidFill>
              </a:rPr>
              <a:t>PyCharm</a:t>
            </a:r>
            <a:r>
              <a:rPr lang="en-US" dirty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You can download </a:t>
            </a:r>
            <a:r>
              <a:rPr lang="en-US" b="1" dirty="0">
                <a:solidFill>
                  <a:schemeClr val="bg1"/>
                </a:solidFill>
              </a:rPr>
              <a:t>PyCharm</a:t>
            </a:r>
            <a:r>
              <a:rPr lang="en-US" dirty="0"/>
              <a:t> from here: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https://www.jetbrains.com/pycharm/download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Python in IDE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5431" y="3353440"/>
            <a:ext cx="6705569" cy="310731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4B0DD60A-B0F8-40F6-925E-923EF4C64B99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8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73166" y="2225886"/>
            <a:ext cx="1887834" cy="61821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age = 25</a:t>
            </a:r>
            <a:endParaRPr lang="bg-BG" sz="26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3500" dirty="0"/>
              <a:t>Variables – they are way to </a:t>
            </a:r>
            <a:r>
              <a:rPr lang="en-US" sz="3500" b="1" dirty="0">
                <a:solidFill>
                  <a:schemeClr val="bg1"/>
                </a:solidFill>
              </a:rPr>
              <a:t>store information</a:t>
            </a:r>
            <a:r>
              <a:rPr lang="en-US" sz="3500" b="1" dirty="0"/>
              <a:t> </a:t>
            </a:r>
            <a:r>
              <a:rPr lang="en-US" sz="3500" dirty="0"/>
              <a:t>and are </a:t>
            </a:r>
            <a:br>
              <a:rPr lang="en-US" sz="3500" dirty="0"/>
            </a:br>
            <a:r>
              <a:rPr lang="en-US" sz="3500" dirty="0"/>
              <a:t>characterized by </a:t>
            </a:r>
            <a:r>
              <a:rPr lang="en-US" sz="3500" b="1" dirty="0">
                <a:solidFill>
                  <a:schemeClr val="bg1"/>
                </a:solidFill>
              </a:rPr>
              <a:t>name</a:t>
            </a:r>
            <a:r>
              <a:rPr lang="en-US" sz="3500" dirty="0"/>
              <a:t>, </a:t>
            </a:r>
            <a:r>
              <a:rPr lang="en-US" sz="3500" b="1" dirty="0">
                <a:solidFill>
                  <a:schemeClr val="bg1"/>
                </a:solidFill>
              </a:rPr>
              <a:t>type</a:t>
            </a:r>
            <a:r>
              <a:rPr lang="en-US" sz="3500" dirty="0"/>
              <a:t> and </a:t>
            </a:r>
            <a:r>
              <a:rPr lang="en-US" sz="3500" b="1" dirty="0">
                <a:solidFill>
                  <a:schemeClr val="bg1"/>
                </a:solidFill>
              </a:rPr>
              <a:t>value</a:t>
            </a:r>
            <a:endParaRPr lang="en-US" sz="3500" dirty="0">
              <a:solidFill>
                <a:schemeClr val="bg1"/>
              </a:solidFill>
            </a:endParaRPr>
          </a:p>
          <a:p>
            <a:pPr>
              <a:lnSpc>
                <a:spcPct val="115000"/>
              </a:lnSpc>
            </a:pPr>
            <a:endParaRPr lang="en-US" sz="3500" dirty="0"/>
          </a:p>
          <a:p>
            <a:pPr>
              <a:lnSpc>
                <a:spcPct val="115000"/>
              </a:lnSpc>
            </a:pPr>
            <a:endParaRPr lang="en-US" sz="3500" dirty="0"/>
          </a:p>
          <a:p>
            <a:pPr marL="457200" indent="-457200">
              <a:lnSpc>
                <a:spcPct val="115000"/>
              </a:lnSpc>
              <a:buFont typeface="Wingdings" panose="05000000000000000000" pitchFamily="2" charset="2"/>
              <a:buChar char="§"/>
            </a:pPr>
            <a:r>
              <a:rPr lang="en-US" sz="3500" dirty="0"/>
              <a:t>Data types – variables are used to hold different data types</a:t>
            </a:r>
          </a:p>
          <a:p>
            <a:pPr marL="1066419" lvl="1" indent="-457200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int</a:t>
            </a:r>
            <a:r>
              <a:rPr lang="en-US" dirty="0"/>
              <a:t> - integer number: </a:t>
            </a:r>
            <a:r>
              <a:rPr lang="en-US" b="1" dirty="0"/>
              <a:t>1, 2, 3, 4, …</a:t>
            </a:r>
          </a:p>
          <a:p>
            <a:pPr marL="1066419" lvl="1" indent="-457200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float</a:t>
            </a:r>
            <a:r>
              <a:rPr lang="en-US" b="1" dirty="0"/>
              <a:t> </a:t>
            </a:r>
            <a:r>
              <a:rPr lang="en-US" dirty="0"/>
              <a:t>-</a:t>
            </a:r>
            <a:r>
              <a:rPr lang="en-US" b="1" dirty="0"/>
              <a:t> </a:t>
            </a:r>
            <a:r>
              <a:rPr lang="en-US" dirty="0"/>
              <a:t>real number: </a:t>
            </a:r>
            <a:r>
              <a:rPr lang="en-US" b="1" dirty="0"/>
              <a:t>0.5, 3.14, -0.5, …</a:t>
            </a:r>
          </a:p>
          <a:p>
            <a:pPr marL="1066419" lvl="1" indent="-457200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str</a:t>
            </a:r>
            <a:r>
              <a:rPr lang="en-US" b="1" dirty="0"/>
              <a:t> </a:t>
            </a:r>
            <a:r>
              <a:rPr lang="en-US" dirty="0"/>
              <a:t>- string and chars: </a:t>
            </a:r>
            <a:r>
              <a:rPr lang="en-US" b="1" dirty="0"/>
              <a:t>"a", "Hello", …</a:t>
            </a:r>
          </a:p>
          <a:p>
            <a:pPr marL="1066419" lvl="1" indent="-457200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bool</a:t>
            </a:r>
            <a:r>
              <a:rPr lang="en-US" b="1" dirty="0"/>
              <a:t> </a:t>
            </a:r>
            <a:r>
              <a:rPr lang="en-US" dirty="0"/>
              <a:t>- boolean: </a:t>
            </a:r>
            <a:r>
              <a:rPr lang="en-US" b="1" dirty="0"/>
              <a:t>True</a:t>
            </a:r>
            <a:r>
              <a:rPr lang="en-US" dirty="0"/>
              <a:t>, </a:t>
            </a:r>
            <a:r>
              <a:rPr lang="en-US" b="1" dirty="0"/>
              <a:t>False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</a:t>
            </a: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2901000" y="2940693"/>
            <a:ext cx="1524000" cy="523312"/>
          </a:xfrm>
          <a:prstGeom prst="wedgeRoundRectCallout">
            <a:avLst>
              <a:gd name="adj1" fmla="val -34042"/>
              <a:gd name="adj2" fmla="val -6632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918520" y="2940693"/>
            <a:ext cx="1524000" cy="523312"/>
          </a:xfrm>
          <a:prstGeom prst="wedgeRoundRectCallout">
            <a:avLst>
              <a:gd name="adj1" fmla="val -12022"/>
              <a:gd name="adj2" fmla="val -7517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E66EA29-48B9-4A46-AFA1-5C0EC60FBB3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9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1C98305E-1202-4703-8FC8-C0A806235302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Conditional Code Execution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50F72D-9335-46FC-83B6-53A1579D7C0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952" y="1584000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21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065510" y="983405"/>
            <a:ext cx="9896335" cy="564059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"if statement" is written by using the</a:t>
            </a:r>
            <a:r>
              <a:rPr lang="en-US" b="1" dirty="0"/>
              <a:t> 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dirty="0"/>
              <a:t> keyword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endParaRPr lang="en-US" sz="3100" dirty="0"/>
          </a:p>
          <a:p>
            <a:r>
              <a:rPr lang="en-US" dirty="0"/>
              <a:t>Python supports the usual logical conditions from mathematics</a:t>
            </a:r>
          </a:p>
          <a:p>
            <a:pPr lvl="1"/>
            <a:r>
              <a:rPr lang="en-US" sz="3100" dirty="0"/>
              <a:t>Equals: a == b</a:t>
            </a:r>
          </a:p>
          <a:p>
            <a:pPr lvl="1"/>
            <a:r>
              <a:rPr lang="en-US" sz="3100" dirty="0"/>
              <a:t>Not Equals: a != b</a:t>
            </a:r>
          </a:p>
          <a:p>
            <a:pPr lvl="1"/>
            <a:r>
              <a:rPr lang="en-US" sz="3100" dirty="0"/>
              <a:t>Less than: a &lt; b</a:t>
            </a:r>
          </a:p>
          <a:p>
            <a:pPr lvl="1"/>
            <a:r>
              <a:rPr lang="en-US" sz="3100" dirty="0"/>
              <a:t>Less than or equal to: a &lt;= b</a:t>
            </a:r>
          </a:p>
          <a:p>
            <a:pPr lvl="1"/>
            <a:r>
              <a:rPr lang="en-US" sz="3100" dirty="0"/>
              <a:t>Greater than: a &gt; b</a:t>
            </a:r>
          </a:p>
          <a:p>
            <a:pPr lvl="1"/>
            <a:r>
              <a:rPr lang="en-US" sz="3100" dirty="0"/>
              <a:t>Greater than or equal to: a &gt;= b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If-Statement</a:t>
            </a: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2496000" y="1404000"/>
            <a:ext cx="5745625" cy="180315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indent="0" defTabSz="1218804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9" b="1" noProof="1" smtClean="0"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90278" indent="-380876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9"/>
            </a:lvl2pPr>
            <a:lvl3pPr marL="1523505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9"/>
            </a:lvl3pPr>
            <a:lvl4pPr marL="2132907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9"/>
            </a:lvl4pPr>
            <a:lvl5pPr marL="2742308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9"/>
            </a:lvl5pPr>
            <a:lvl6pPr marL="3351710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6pPr>
            <a:lvl7pPr marL="3961112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7pPr>
            <a:lvl8pPr marL="4570514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8pPr>
            <a:lvl9pPr marL="5179916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9pPr>
          </a:lstStyle>
          <a:p>
            <a:pPr>
              <a:spcAft>
                <a:spcPts val="0"/>
              </a:spcAft>
            </a:pPr>
            <a:r>
              <a:rPr lang="en-GB" sz="2200" dirty="0">
                <a:solidFill>
                  <a:schemeClr val="tx1"/>
                </a:solidFill>
              </a:rPr>
              <a:t>a = 33</a:t>
            </a:r>
          </a:p>
          <a:p>
            <a:pPr>
              <a:spcAft>
                <a:spcPts val="0"/>
              </a:spcAft>
            </a:pPr>
            <a:r>
              <a:rPr lang="en-GB" sz="2200" dirty="0">
                <a:solidFill>
                  <a:schemeClr val="tx1"/>
                </a:solidFill>
              </a:rPr>
              <a:t>b = 200</a:t>
            </a:r>
          </a:p>
          <a:p>
            <a:pPr>
              <a:spcAft>
                <a:spcPts val="0"/>
              </a:spcAft>
            </a:pPr>
            <a:r>
              <a:rPr lang="en-GB" sz="2200" dirty="0">
                <a:solidFill>
                  <a:schemeClr val="bg1"/>
                </a:solidFill>
              </a:rPr>
              <a:t>if b &gt; a:</a:t>
            </a:r>
          </a:p>
          <a:p>
            <a:pPr>
              <a:spcAft>
                <a:spcPts val="0"/>
              </a:spcAft>
            </a:pPr>
            <a:r>
              <a:rPr lang="en-GB" sz="2200" dirty="0">
                <a:solidFill>
                  <a:schemeClr val="tx1"/>
                </a:solidFill>
              </a:rPr>
              <a:t>    print("b is greater than a")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FD972DB-DC70-43DD-865E-1C181A37D88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86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65510" y="1121144"/>
            <a:ext cx="9880490" cy="5457856"/>
          </a:xfrm>
        </p:spPr>
        <p:txBody>
          <a:bodyPr/>
          <a:lstStyle/>
          <a:p>
            <a:r>
              <a:rPr lang="en-US" dirty="0"/>
              <a:t>Python relies on indentation, using whitespace, </a:t>
            </a:r>
            <a:br>
              <a:rPr lang="en-US" dirty="0"/>
            </a:br>
            <a:r>
              <a:rPr lang="en-US" dirty="0"/>
              <a:t>to define scope in the code</a:t>
            </a:r>
          </a:p>
          <a:p>
            <a:r>
              <a:rPr lang="en-US" dirty="0"/>
              <a:t>Other programming languages often use </a:t>
            </a:r>
            <a:br>
              <a:rPr lang="en-US" dirty="0"/>
            </a:br>
            <a:r>
              <a:rPr lang="en-US" dirty="0"/>
              <a:t>curly-brackets for this purpose</a:t>
            </a:r>
          </a:p>
          <a:p>
            <a:r>
              <a:rPr lang="en-US" dirty="0"/>
              <a:t>If statement, without indentation will raise an error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Indentation</a:t>
            </a:r>
          </a:p>
        </p:txBody>
      </p:sp>
      <p:sp>
        <p:nvSpPr>
          <p:cNvPr id="4" name="Text Placeholder 5"/>
          <p:cNvSpPr txBox="1">
            <a:spLocks/>
          </p:cNvSpPr>
          <p:nvPr/>
        </p:nvSpPr>
        <p:spPr>
          <a:xfrm>
            <a:off x="2504717" y="4402716"/>
            <a:ext cx="6210000" cy="204938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indent="0" defTabSz="1218804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9" b="1" noProof="1" smtClean="0"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90278" indent="-380876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9"/>
            </a:lvl2pPr>
            <a:lvl3pPr marL="1523505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9"/>
            </a:lvl3pPr>
            <a:lvl4pPr marL="2132907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9"/>
            </a:lvl4pPr>
            <a:lvl5pPr marL="2742308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9"/>
            </a:lvl5pPr>
            <a:lvl6pPr marL="3351710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6pPr>
            <a:lvl7pPr marL="3961112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7pPr>
            <a:lvl8pPr marL="4570514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8pPr>
            <a:lvl9pPr marL="5179916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9pPr>
          </a:lstStyle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a = 33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b = 200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bg1"/>
                </a:solidFill>
              </a:rPr>
              <a:t>if</a:t>
            </a:r>
            <a:r>
              <a:rPr lang="en-GB" sz="2600" dirty="0">
                <a:solidFill>
                  <a:schemeClr val="tx1"/>
                </a:solidFill>
              </a:rPr>
              <a:t> b &gt; a: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    print("b is greater than a")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0F71A54-BD1E-4ABE-BD9E-53B01A172EC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5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else</a:t>
            </a:r>
            <a:r>
              <a:rPr lang="en-US" dirty="0"/>
              <a:t> keyword catches anything which isn't </a:t>
            </a:r>
            <a:br>
              <a:rPr lang="en-US" dirty="0"/>
            </a:br>
            <a:r>
              <a:rPr lang="en-US" dirty="0"/>
              <a:t>caught by the preceding conditions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Else-Statement</a:t>
            </a:r>
          </a:p>
        </p:txBody>
      </p:sp>
      <p:sp>
        <p:nvSpPr>
          <p:cNvPr id="4" name="Text Placeholder 5"/>
          <p:cNvSpPr txBox="1">
            <a:spLocks/>
          </p:cNvSpPr>
          <p:nvPr/>
        </p:nvSpPr>
        <p:spPr>
          <a:xfrm>
            <a:off x="2541000" y="2574000"/>
            <a:ext cx="6840000" cy="300348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indent="0" defTabSz="1218804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9" b="1" noProof="1" smtClean="0"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90278" indent="-380876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9"/>
            </a:lvl2pPr>
            <a:lvl3pPr marL="1523505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9"/>
            </a:lvl3pPr>
            <a:lvl4pPr marL="2132907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9"/>
            </a:lvl4pPr>
            <a:lvl5pPr marL="2742308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9"/>
            </a:lvl5pPr>
            <a:lvl6pPr marL="3351710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6pPr>
            <a:lvl7pPr marL="3961112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7pPr>
            <a:lvl8pPr marL="4570514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8pPr>
            <a:lvl9pPr marL="5179916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9pPr>
          </a:lstStyle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a = 200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b = 33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if b &gt; a: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    print("b is greater than a")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bg1"/>
                </a:solidFill>
              </a:rPr>
              <a:t>else</a:t>
            </a:r>
            <a:r>
              <a:rPr lang="en-GB" sz="2600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    print("b is not greater </a:t>
            </a:r>
            <a:r>
              <a:rPr lang="en-GB" sz="2600">
                <a:solidFill>
                  <a:schemeClr val="tx1"/>
                </a:solidFill>
              </a:rPr>
              <a:t>than a")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A10FB5F3-B122-4DFD-AA57-369802D4AFE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15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elif</a:t>
            </a:r>
            <a:r>
              <a:rPr lang="en-US" dirty="0"/>
              <a:t> keyword is pythonic way of saying "if the </a:t>
            </a:r>
            <a:br>
              <a:rPr lang="en-US" dirty="0"/>
            </a:br>
            <a:r>
              <a:rPr lang="en-US" dirty="0"/>
              <a:t>previous conditions were not true, then try this</a:t>
            </a:r>
            <a:br>
              <a:rPr lang="en-US" dirty="0"/>
            </a:br>
            <a:r>
              <a:rPr lang="en-US" dirty="0"/>
              <a:t>condition"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Elif-Statement</a:t>
            </a:r>
          </a:p>
        </p:txBody>
      </p:sp>
      <p:sp>
        <p:nvSpPr>
          <p:cNvPr id="4" name="Text Placeholder 5"/>
          <p:cNvSpPr txBox="1">
            <a:spLocks/>
          </p:cNvSpPr>
          <p:nvPr/>
        </p:nvSpPr>
        <p:spPr>
          <a:xfrm>
            <a:off x="2586000" y="3106485"/>
            <a:ext cx="6345000" cy="300348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indent="0" defTabSz="1218804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9" b="1" noProof="1" smtClean="0"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90278" indent="-380876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9"/>
            </a:lvl2pPr>
            <a:lvl3pPr marL="1523505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9"/>
            </a:lvl3pPr>
            <a:lvl4pPr marL="2132907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9"/>
            </a:lvl4pPr>
            <a:lvl5pPr marL="2742308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9"/>
            </a:lvl5pPr>
            <a:lvl6pPr marL="3351710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6pPr>
            <a:lvl7pPr marL="3961112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7pPr>
            <a:lvl8pPr marL="4570514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8pPr>
            <a:lvl9pPr marL="5179916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9pPr>
          </a:lstStyle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a = 33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b = 33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if b &gt; a: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    print("b is greater than a")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bg1"/>
                </a:solidFill>
              </a:rPr>
              <a:t>elif</a:t>
            </a:r>
            <a:r>
              <a:rPr lang="en-GB" sz="2600" dirty="0">
                <a:solidFill>
                  <a:schemeClr val="tx1"/>
                </a:solidFill>
              </a:rPr>
              <a:t> a == b:</a:t>
            </a:r>
          </a:p>
          <a:p>
            <a:pPr>
              <a:spcAft>
                <a:spcPts val="0"/>
              </a:spcAft>
            </a:pPr>
            <a:r>
              <a:rPr lang="en-GB" sz="2600" dirty="0">
                <a:solidFill>
                  <a:schemeClr val="tx1"/>
                </a:solidFill>
              </a:rPr>
              <a:t>    print("a and b are equal")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51676B0-3603-42F5-8D0D-6717DF62264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82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31000" y="2529000"/>
            <a:ext cx="9539999" cy="117221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if a &gt; b </a:t>
            </a:r>
            <a:r>
              <a:rPr lang="en-GB" sz="2600" dirty="0">
                <a:solidFill>
                  <a:schemeClr val="bg1"/>
                </a:solidFill>
              </a:rPr>
              <a:t>and</a:t>
            </a:r>
            <a:r>
              <a:rPr lang="en-GB" sz="2600" dirty="0"/>
              <a:t> c &gt; a: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    print("Both conditions are True")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Font typeface="Wingdings" panose="05000000000000000000" pitchFamily="2" charset="2"/>
              <a:buChar char="§"/>
            </a:pPr>
            <a:r>
              <a:rPr lang="en-US" dirty="0"/>
              <a:t>The 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and</a:t>
            </a:r>
            <a:r>
              <a:rPr lang="en-US" b="1" dirty="0">
                <a:latin typeface="Consolas" panose="020B0609020204030204" pitchFamily="49" charset="0"/>
              </a:rPr>
              <a:t>/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or</a:t>
            </a:r>
            <a:r>
              <a:rPr lang="en-US" dirty="0"/>
              <a:t> keywords are logical operators. They are used to combine conditional statements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and Or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830998" y="4053421"/>
            <a:ext cx="9540001" cy="117221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600" dirty="0">
                <a:solidFill>
                  <a:schemeClr val="tx1"/>
                </a:solidFill>
              </a:rPr>
              <a:t>if a &gt; b </a:t>
            </a:r>
            <a:r>
              <a:rPr lang="en-GB" sz="2600" dirty="0">
                <a:solidFill>
                  <a:schemeClr val="bg1"/>
                </a:solidFill>
              </a:rPr>
              <a:t>or</a:t>
            </a:r>
            <a:r>
              <a:rPr lang="en-GB" sz="2600" dirty="0">
                <a:solidFill>
                  <a:schemeClr val="tx1"/>
                </a:solidFill>
              </a:rPr>
              <a:t> a &gt; c:</a:t>
            </a:r>
          </a:p>
          <a:p>
            <a:r>
              <a:rPr lang="en-GB" sz="2600" dirty="0">
                <a:solidFill>
                  <a:schemeClr val="tx1"/>
                </a:solidFill>
              </a:rPr>
              <a:t>    print("At least one of the conditions is True")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7E6AC42-0CD6-4D87-881E-02BA4DD3C759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23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25595" y="2680867"/>
            <a:ext cx="7835405" cy="181854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a = int(input())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if 1 </a:t>
            </a:r>
            <a:r>
              <a:rPr lang="en-GB" sz="2800" dirty="0">
                <a:solidFill>
                  <a:schemeClr val="bg1"/>
                </a:solidFill>
              </a:rPr>
              <a:t>&lt;=</a:t>
            </a:r>
            <a:r>
              <a:rPr lang="en-GB" sz="2800" dirty="0"/>
              <a:t> a </a:t>
            </a:r>
            <a:r>
              <a:rPr lang="en-GB" sz="2800" dirty="0">
                <a:solidFill>
                  <a:schemeClr val="bg1"/>
                </a:solidFill>
              </a:rPr>
              <a:t>&lt;=</a:t>
            </a:r>
            <a:r>
              <a:rPr lang="en-GB" sz="2800" dirty="0"/>
              <a:t> 10: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   print("a is in the range 1 and 10")</a:t>
            </a:r>
            <a:endParaRPr lang="bg-BG" sz="28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If you want to check whether a number is in a given range, you can use the following syntax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Number Range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540644B-F5AD-4085-BE55-DDBDDF22E48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77640E-92E8-4838-9C26-F83ACD09FE83}"/>
              </a:ext>
            </a:extLst>
          </p:cNvPr>
          <p:cNvSpPr/>
          <p:nvPr/>
        </p:nvSpPr>
        <p:spPr>
          <a:xfrm>
            <a:off x="7761000" y="5060826"/>
            <a:ext cx="3630000" cy="923330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1 … 10</a:t>
            </a:r>
          </a:p>
        </p:txBody>
      </p:sp>
    </p:spTree>
    <p:extLst>
      <p:ext uri="{BB962C8B-B14F-4D97-AF65-F5344CB8AC3E}">
        <p14:creationId xmlns:p14="http://schemas.microsoft.com/office/powerpoint/2010/main" val="356745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EB42CC5-D9CF-4252-B059-8D6AFEA3E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000" y="3429000"/>
            <a:ext cx="802492" cy="1363744"/>
          </a:xfr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3</a:t>
            </a:r>
          </a:p>
          <a:p>
            <a:pPr algn="ctr"/>
            <a:r>
              <a:rPr lang="en-US" sz="2400" dirty="0"/>
              <a:t>-1</a:t>
            </a:r>
          </a:p>
          <a:p>
            <a:pPr algn="ctr"/>
            <a:r>
              <a:rPr lang="en-US" sz="2400" dirty="0"/>
              <a:t>5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Write a program which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dirty="0"/>
              <a:t>Reads three whole numbers from the console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dirty="0"/>
              <a:t>Prints the largest number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Largest of Three Numbers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46DA0BE7-BEF8-4248-9992-8C9C4365E76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723E6CB-9468-43E3-96E7-D9E8FD350464}"/>
              </a:ext>
            </a:extLst>
          </p:cNvPr>
          <p:cNvSpPr txBox="1">
            <a:spLocks/>
          </p:cNvSpPr>
          <p:nvPr/>
        </p:nvSpPr>
        <p:spPr>
          <a:xfrm>
            <a:off x="3763013" y="3817151"/>
            <a:ext cx="802493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8" name="Right Arrow 5">
            <a:extLst>
              <a:ext uri="{FF2B5EF4-FFF2-40B4-BE49-F238E27FC236}">
                <a16:creationId xmlns:a16="http://schemas.microsoft.com/office/drawing/2014/main" id="{3826DC5F-75EA-4C75-A50A-E60EF3EAEE29}"/>
              </a:ext>
            </a:extLst>
          </p:cNvPr>
          <p:cNvSpPr/>
          <p:nvPr/>
        </p:nvSpPr>
        <p:spPr bwMode="auto">
          <a:xfrm>
            <a:off x="2706315" y="3920372"/>
            <a:ext cx="523875" cy="38100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5FECDF54-2691-4179-BCA6-A8222F32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2" y="3429000"/>
            <a:ext cx="2816786" cy="2816786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9EC49F5-EF02-4D2D-99D3-6064D3C71063}"/>
              </a:ext>
            </a:extLst>
          </p:cNvPr>
          <p:cNvSpPr txBox="1">
            <a:spLocks/>
          </p:cNvSpPr>
          <p:nvPr/>
        </p:nvSpPr>
        <p:spPr>
          <a:xfrm>
            <a:off x="1371000" y="5022180"/>
            <a:ext cx="802492" cy="136374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400" dirty="0"/>
              <a:t>0</a:t>
            </a:r>
          </a:p>
          <a:p>
            <a:pPr algn="ctr"/>
            <a:r>
              <a:rPr lang="en-GB" sz="2400" dirty="0"/>
              <a:t>-1</a:t>
            </a:r>
          </a:p>
          <a:p>
            <a:pPr algn="ctr"/>
            <a:r>
              <a:rPr lang="en-GB" sz="2400" dirty="0"/>
              <a:t>-2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5A802EB-7523-4577-A644-1AAF511790EA}"/>
              </a:ext>
            </a:extLst>
          </p:cNvPr>
          <p:cNvSpPr txBox="1">
            <a:spLocks/>
          </p:cNvSpPr>
          <p:nvPr/>
        </p:nvSpPr>
        <p:spPr>
          <a:xfrm>
            <a:off x="3763013" y="5410331"/>
            <a:ext cx="802493" cy="58744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" name="Right Arrow 5">
            <a:extLst>
              <a:ext uri="{FF2B5EF4-FFF2-40B4-BE49-F238E27FC236}">
                <a16:creationId xmlns:a16="http://schemas.microsoft.com/office/drawing/2014/main" id="{247A55E3-55E4-4EE4-97CB-A566D9A1EA38}"/>
              </a:ext>
            </a:extLst>
          </p:cNvPr>
          <p:cNvSpPr/>
          <p:nvPr/>
        </p:nvSpPr>
        <p:spPr bwMode="auto">
          <a:xfrm>
            <a:off x="2706315" y="5513552"/>
            <a:ext cx="523875" cy="38100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365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 animBg="1"/>
      <p:bldP spid="17" grpId="0" animBg="1"/>
      <p:bldP spid="18" grpId="0" animBg="1"/>
      <p:bldP spid="9" grpId="0" uiExpand="1" build="p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Biggest of Three Numbers 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AF637CE-6AE6-4FCE-9FBD-FA93CAD5A18C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A0DDA0-CA73-4B0A-BB9B-2E5FF982C6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1234" y="1494000"/>
            <a:ext cx="10949531" cy="477031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first_num = int(input())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second_num = int(input())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third_num = int(input())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if</a:t>
            </a:r>
            <a:r>
              <a:rPr lang="en-US" dirty="0"/>
              <a:t> first_num &gt; second_num </a:t>
            </a:r>
            <a:r>
              <a:rPr lang="en-US" dirty="0">
                <a:solidFill>
                  <a:schemeClr val="bg1"/>
                </a:solidFill>
              </a:rPr>
              <a:t>and</a:t>
            </a:r>
            <a:r>
              <a:rPr lang="en-US" dirty="0"/>
              <a:t> first_num &gt; third_num: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   print(first_num)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elif</a:t>
            </a:r>
            <a:r>
              <a:rPr lang="en-US" dirty="0"/>
              <a:t> second_num &gt; first_num </a:t>
            </a:r>
            <a:r>
              <a:rPr lang="en-US" dirty="0">
                <a:solidFill>
                  <a:schemeClr val="bg1"/>
                </a:solidFill>
              </a:rPr>
              <a:t>and</a:t>
            </a:r>
            <a:r>
              <a:rPr lang="en-US" dirty="0"/>
              <a:t> second_num &gt; third_num: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   print(second_num)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else</a:t>
            </a:r>
            <a:r>
              <a:rPr lang="en-US" dirty="0"/>
              <a:t>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   print(third_num)</a:t>
            </a:r>
          </a:p>
        </p:txBody>
      </p:sp>
    </p:spTree>
    <p:extLst>
      <p:ext uri="{BB962C8B-B14F-4D97-AF65-F5344CB8AC3E}">
        <p14:creationId xmlns:p14="http://schemas.microsoft.com/office/powerpoint/2010/main" val="394820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Write a program that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dirty="0"/>
              <a:t>Reads a floating-point number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dirty="0"/>
              <a:t>Prints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zero</a:t>
            </a:r>
            <a:r>
              <a:rPr lang="en-US" b="1" dirty="0">
                <a:latin typeface="+mj-lt"/>
              </a:rPr>
              <a:t> </a:t>
            </a:r>
            <a:r>
              <a:rPr lang="en-US" dirty="0"/>
              <a:t>if the number is zero or otherwise prints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positive</a:t>
            </a:r>
            <a:r>
              <a:rPr lang="en-US" b="1" dirty="0"/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negative</a:t>
            </a:r>
            <a:r>
              <a:rPr lang="en-US" dirty="0"/>
              <a:t>.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dirty="0"/>
              <a:t>Adds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small</a:t>
            </a:r>
            <a:r>
              <a:rPr lang="en-US" dirty="0"/>
              <a:t> if the absolute value of the number &lt; 1, or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large</a:t>
            </a:r>
            <a:r>
              <a:rPr lang="en-US" dirty="0"/>
              <a:t> if the number &gt; 1 000 000.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Number Definer 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11F8E95-7CB1-4C08-8DC3-655BAA964FF2}"/>
              </a:ext>
            </a:extLst>
          </p:cNvPr>
          <p:cNvSpPr txBox="1">
            <a:spLocks/>
          </p:cNvSpPr>
          <p:nvPr/>
        </p:nvSpPr>
        <p:spPr>
          <a:xfrm>
            <a:off x="1371000" y="4953988"/>
            <a:ext cx="1632680" cy="707886"/>
          </a:xfrm>
          <a:prstGeom prst="rect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365760" tIns="182880" rIns="365760" bIns="182880">
            <a:spAutoFit/>
          </a:bodyPr>
          <a:lstStyle>
            <a:lvl1pPr marL="0" indent="0" algn="l" defTabSz="1218438" rtl="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/>
              <a:t>25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11F8E95-7CB1-4C08-8DC3-655BAA964FF2}"/>
              </a:ext>
            </a:extLst>
          </p:cNvPr>
          <p:cNvSpPr txBox="1">
            <a:spLocks/>
          </p:cNvSpPr>
          <p:nvPr/>
        </p:nvSpPr>
        <p:spPr>
          <a:xfrm>
            <a:off x="4116000" y="4953988"/>
            <a:ext cx="2117124" cy="707886"/>
          </a:xfrm>
          <a:prstGeom prst="rect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365760" tIns="182880" rIns="365760" bIns="182880">
            <a:spAutoFit/>
          </a:bodyPr>
          <a:lstStyle>
            <a:lvl1pPr marL="0" indent="0" algn="l" defTabSz="1218438" rtl="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/>
              <a:t>positive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F7544F6-AAD9-42CC-AEE4-22AA048C8D5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Right Arrow 2"/>
          <p:cNvSpPr/>
          <p:nvPr/>
        </p:nvSpPr>
        <p:spPr bwMode="auto">
          <a:xfrm>
            <a:off x="3312340" y="5127931"/>
            <a:ext cx="495000" cy="36000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CFA7A76-5FD5-4464-B0DC-3A7629DB9424}"/>
              </a:ext>
            </a:extLst>
          </p:cNvPr>
          <p:cNvSpPr txBox="1">
            <a:spLocks/>
          </p:cNvSpPr>
          <p:nvPr/>
        </p:nvSpPr>
        <p:spPr>
          <a:xfrm>
            <a:off x="1371000" y="5816586"/>
            <a:ext cx="1632680" cy="707886"/>
          </a:xfrm>
          <a:prstGeom prst="rect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365760" tIns="182880" rIns="365760" bIns="182880">
            <a:spAutoFit/>
          </a:bodyPr>
          <a:lstStyle>
            <a:lvl1pPr marL="0" indent="0" algn="l" defTabSz="1218438" rtl="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/>
              <a:t>0.7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F6108B4-B5E0-49DA-96CB-C95AF4C3E6AE}"/>
              </a:ext>
            </a:extLst>
          </p:cNvPr>
          <p:cNvSpPr txBox="1">
            <a:spLocks/>
          </p:cNvSpPr>
          <p:nvPr/>
        </p:nvSpPr>
        <p:spPr>
          <a:xfrm>
            <a:off x="4116000" y="5816586"/>
            <a:ext cx="3105000" cy="738344"/>
          </a:xfrm>
          <a:prstGeom prst="rect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365760" tIns="182880" rIns="365760" bIns="182880">
            <a:spAutoFit/>
          </a:bodyPr>
          <a:lstStyle>
            <a:lvl1pPr marL="0" indent="0" algn="l" defTabSz="1218438" rtl="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small positive</a:t>
            </a:r>
            <a:endParaRPr lang="en-US" sz="2200" dirty="0"/>
          </a:p>
        </p:txBody>
      </p:sp>
      <p:sp>
        <p:nvSpPr>
          <p:cNvPr id="11" name="Right Arrow 2">
            <a:extLst>
              <a:ext uri="{FF2B5EF4-FFF2-40B4-BE49-F238E27FC236}">
                <a16:creationId xmlns:a16="http://schemas.microsoft.com/office/drawing/2014/main" id="{5BD7E631-CD5B-443A-A4B5-5281A0FD5D84}"/>
              </a:ext>
            </a:extLst>
          </p:cNvPr>
          <p:cNvSpPr/>
          <p:nvPr/>
        </p:nvSpPr>
        <p:spPr bwMode="auto">
          <a:xfrm>
            <a:off x="3312340" y="5990529"/>
            <a:ext cx="495000" cy="36000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4555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3" grpId="0" animBg="1"/>
      <p:bldP spid="8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C6F6D7-01EA-4DE9-8716-D24ED8B652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3394" y="1674000"/>
            <a:ext cx="6644766" cy="4462669"/>
          </a:xfrm>
        </p:spPr>
        <p:txBody>
          <a:bodyPr/>
          <a:lstStyle/>
          <a:p>
            <a:r>
              <a:rPr lang="en-GB" dirty="0"/>
              <a:t>number = float(input())</a:t>
            </a:r>
          </a:p>
          <a:p>
            <a:r>
              <a:rPr lang="en-GB" dirty="0"/>
              <a:t>if number == 0:</a:t>
            </a:r>
          </a:p>
          <a:p>
            <a:r>
              <a:rPr lang="en-GB" dirty="0"/>
              <a:t>    print("zero")</a:t>
            </a:r>
          </a:p>
          <a:p>
            <a:r>
              <a:rPr lang="en-GB" dirty="0"/>
              <a:t>elif number &gt; 0:</a:t>
            </a:r>
          </a:p>
          <a:p>
            <a:r>
              <a:rPr lang="en-GB" dirty="0"/>
              <a:t>    if number &lt; 1:</a:t>
            </a:r>
          </a:p>
          <a:p>
            <a:r>
              <a:rPr lang="en-GB" dirty="0"/>
              <a:t>        print("small positive")</a:t>
            </a:r>
          </a:p>
          <a:p>
            <a:r>
              <a:rPr lang="en-GB" dirty="0"/>
              <a:t>    elif number &gt; 1000000:</a:t>
            </a:r>
          </a:p>
          <a:p>
            <a:r>
              <a:rPr lang="en-GB" dirty="0"/>
              <a:t>        print("large positive")</a:t>
            </a:r>
          </a:p>
          <a:p>
            <a:r>
              <a:rPr lang="en-GB" dirty="0"/>
              <a:t>    else:</a:t>
            </a:r>
          </a:p>
          <a:p>
            <a:r>
              <a:rPr lang="en-GB" dirty="0"/>
              <a:t>        print("positive")</a:t>
            </a:r>
          </a:p>
          <a:p>
            <a:r>
              <a:rPr lang="en-GB" i="1" dirty="0">
                <a:solidFill>
                  <a:schemeClr val="accent2"/>
                </a:solidFill>
              </a:rPr>
              <a:t># TODO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</a:t>
            </a:r>
            <a:r>
              <a:rPr lang="bg-BG" dirty="0"/>
              <a:t> </a:t>
            </a:r>
            <a:r>
              <a:rPr lang="en-US" dirty="0"/>
              <a:t>Number Definer 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4B3CF0B-325E-4056-9AAA-CAD2AC71D7FC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5FECDF54-2691-4179-BCA6-A8222F32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820" y="3319883"/>
            <a:ext cx="2816786" cy="281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0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1BC056F6-A977-4B79-9F6A-FC1C7CF7D71A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Repeating Blocks of Code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C4821-1660-41B2-9D8A-496E3817EED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976" y="1314000"/>
            <a:ext cx="2794047" cy="279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9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r>
              <a:rPr lang="en-US" dirty="0"/>
              <a:t>A for loop is used to iterate over sequence of</a:t>
            </a:r>
            <a:br>
              <a:rPr lang="en-US" dirty="0"/>
            </a:br>
            <a:r>
              <a:rPr lang="en-US" dirty="0"/>
              <a:t>iterable types like</a:t>
            </a:r>
          </a:p>
          <a:p>
            <a:pPr lvl="1"/>
            <a:r>
              <a:rPr lang="en-US" dirty="0"/>
              <a:t>tuple</a:t>
            </a:r>
          </a:p>
          <a:p>
            <a:pPr lvl="1"/>
            <a:r>
              <a:rPr lang="en-US" dirty="0"/>
              <a:t>list</a:t>
            </a:r>
          </a:p>
          <a:p>
            <a:pPr lvl="1"/>
            <a:r>
              <a:rPr lang="en-US" dirty="0"/>
              <a:t>other iterable types</a:t>
            </a:r>
          </a:p>
          <a:p>
            <a:r>
              <a:rPr lang="en-US" dirty="0"/>
              <a:t>The for loop does not require an indexing variable to set beforehand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For-Loops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BB53334-DA81-4001-9DA6-286C531EB6D0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79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r>
              <a:rPr lang="en-US" dirty="0"/>
              <a:t>To loop through a set of code a specified number of </a:t>
            </a:r>
            <a:br>
              <a:rPr lang="en-US" dirty="0"/>
            </a:br>
            <a:r>
              <a:rPr lang="en-US" dirty="0"/>
              <a:t>times, we can use the 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range()</a:t>
            </a:r>
            <a:r>
              <a:rPr lang="en-US" dirty="0"/>
              <a:t> function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Range Function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2586000" y="2747568"/>
            <a:ext cx="4092222" cy="298809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tx1"/>
                </a:solidFill>
              </a:rPr>
              <a:t>for x in </a:t>
            </a:r>
            <a:r>
              <a:rPr lang="en-GB" sz="2800" dirty="0">
                <a:solidFill>
                  <a:schemeClr val="bg1"/>
                </a:solidFill>
              </a:rPr>
              <a:t>range(3)</a:t>
            </a:r>
            <a:r>
              <a:rPr lang="en-GB" sz="2800" dirty="0">
                <a:solidFill>
                  <a:schemeClr val="tx1"/>
                </a:solidFill>
              </a:rPr>
              <a:t>:</a:t>
            </a:r>
          </a:p>
          <a:p>
            <a:r>
              <a:rPr lang="en-GB" sz="2800" dirty="0">
                <a:solidFill>
                  <a:schemeClr val="tx1"/>
                </a:solidFill>
              </a:rPr>
              <a:t>    print(x)</a:t>
            </a:r>
          </a:p>
          <a:p>
            <a:r>
              <a:rPr lang="en-GB" sz="2800" i="1" dirty="0">
                <a:solidFill>
                  <a:schemeClr val="accent2"/>
                </a:solidFill>
              </a:rPr>
              <a:t># 0</a:t>
            </a:r>
          </a:p>
          <a:p>
            <a:r>
              <a:rPr lang="en-GB" sz="2800" i="1" dirty="0">
                <a:solidFill>
                  <a:schemeClr val="accent2"/>
                </a:solidFill>
              </a:rPr>
              <a:t># 1</a:t>
            </a:r>
          </a:p>
          <a:p>
            <a:r>
              <a:rPr lang="en-GB" sz="2800" i="1" dirty="0">
                <a:solidFill>
                  <a:schemeClr val="accent2"/>
                </a:solidFill>
              </a:rPr>
              <a:t># 2</a:t>
            </a:r>
            <a:endParaRPr lang="en-US" sz="2800" i="1" dirty="0">
              <a:solidFill>
                <a:schemeClr val="accent2"/>
              </a:solidFill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5E22E7-A4B1-421B-AAC3-22A40CF1FC1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6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b="1" dirty="0">
                <a:solidFill>
                  <a:schemeClr val="bg1"/>
                </a:solidFill>
              </a:rPr>
              <a:t>break</a:t>
            </a:r>
            <a:r>
              <a:rPr lang="en-US" dirty="0"/>
              <a:t> statement </a:t>
            </a:r>
            <a:r>
              <a:rPr lang="en-US" b="1" dirty="0">
                <a:solidFill>
                  <a:schemeClr val="bg1"/>
                </a:solidFill>
              </a:rPr>
              <a:t>stops</a:t>
            </a:r>
            <a:r>
              <a:rPr lang="en-US" dirty="0"/>
              <a:t> the loop before it has </a:t>
            </a:r>
            <a:br>
              <a:rPr lang="en-US" dirty="0"/>
            </a:br>
            <a:r>
              <a:rPr lang="en-US" dirty="0"/>
              <a:t>looped through all the items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Break Statement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2542934" y="2692773"/>
            <a:ext cx="3998015" cy="240332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tx1"/>
                </a:solidFill>
              </a:rPr>
              <a:t>for x in range(3):</a:t>
            </a:r>
          </a:p>
          <a:p>
            <a:r>
              <a:rPr lang="en-GB" sz="2800" dirty="0">
                <a:solidFill>
                  <a:schemeClr val="tx1"/>
                </a:solidFill>
              </a:rPr>
              <a:t>    if x == 1:</a:t>
            </a:r>
          </a:p>
          <a:p>
            <a:r>
              <a:rPr lang="en-GB" sz="2800" dirty="0">
                <a:solidFill>
                  <a:schemeClr val="tx1"/>
                </a:solidFill>
              </a:rPr>
              <a:t>        </a:t>
            </a:r>
            <a:r>
              <a:rPr lang="en-GB" sz="2800" dirty="0">
                <a:solidFill>
                  <a:schemeClr val="bg1"/>
                </a:solidFill>
              </a:rPr>
              <a:t>break</a:t>
            </a:r>
          </a:p>
          <a:p>
            <a:r>
              <a:rPr lang="en-GB" sz="2800" dirty="0">
                <a:solidFill>
                  <a:schemeClr val="tx1"/>
                </a:solidFill>
              </a:rPr>
              <a:t>    print(x)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8154419" y="3569935"/>
            <a:ext cx="957683" cy="6489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ight Arrow 5"/>
          <p:cNvSpPr/>
          <p:nvPr/>
        </p:nvSpPr>
        <p:spPr bwMode="auto">
          <a:xfrm>
            <a:off x="6992883" y="3694482"/>
            <a:ext cx="709602" cy="399909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C8D6218-0D5D-4704-8701-83DD479CF85C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1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4234" cy="5546589"/>
          </a:xfrm>
        </p:spPr>
        <p:txBody>
          <a:bodyPr/>
          <a:lstStyle/>
          <a:p>
            <a:r>
              <a:rPr lang="en-US" dirty="0"/>
              <a:t>The continue statement skips the current iteration of the loop and continue with the next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Continue Statement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2631000" y="2692775"/>
            <a:ext cx="3998015" cy="240332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solidFill>
                  <a:schemeClr val="tx1"/>
                </a:solidFill>
              </a:rPr>
              <a:t>for x in range(3):</a:t>
            </a:r>
          </a:p>
          <a:p>
            <a:r>
              <a:rPr lang="en-GB" sz="2800" dirty="0">
                <a:solidFill>
                  <a:schemeClr val="tx1"/>
                </a:solidFill>
              </a:rPr>
              <a:t>    if x == 1:</a:t>
            </a:r>
          </a:p>
          <a:p>
            <a:r>
              <a:rPr lang="en-GB" sz="2800" dirty="0">
                <a:solidFill>
                  <a:schemeClr val="tx1"/>
                </a:solidFill>
              </a:rPr>
              <a:t>        </a:t>
            </a:r>
            <a:r>
              <a:rPr lang="en-GB" sz="2800" dirty="0">
                <a:solidFill>
                  <a:schemeClr val="bg1"/>
                </a:solidFill>
              </a:rPr>
              <a:t>continue</a:t>
            </a:r>
          </a:p>
          <a:p>
            <a:r>
              <a:rPr lang="en-GB" sz="2800" dirty="0">
                <a:solidFill>
                  <a:schemeClr val="tx1"/>
                </a:solidFill>
              </a:rPr>
              <a:t>    print(x)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8199894" y="3210599"/>
            <a:ext cx="957683" cy="123377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EBF92A0-BDC2-4C4E-ADB8-DB6C8349181C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Right Arrow 5">
            <a:extLst>
              <a:ext uri="{FF2B5EF4-FFF2-40B4-BE49-F238E27FC236}">
                <a16:creationId xmlns:a16="http://schemas.microsoft.com/office/drawing/2014/main" id="{EE375135-292B-415E-9AC4-7D8FEB2B01E2}"/>
              </a:ext>
            </a:extLst>
          </p:cNvPr>
          <p:cNvSpPr/>
          <p:nvPr/>
        </p:nvSpPr>
        <p:spPr bwMode="auto">
          <a:xfrm>
            <a:off x="7064582" y="3627531"/>
            <a:ext cx="709602" cy="399909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659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900000" cy="5322857"/>
          </a:xfrm>
        </p:spPr>
        <p:txBody>
          <a:bodyPr/>
          <a:lstStyle/>
          <a:p>
            <a:r>
              <a:rPr lang="en-US" dirty="0"/>
              <a:t>With a while loop we can execute a set of </a:t>
            </a:r>
            <a:br>
              <a:rPr lang="en-US" dirty="0"/>
            </a:br>
            <a:r>
              <a:rPr lang="en-US" dirty="0"/>
              <a:t>statements as long as the condition is true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Clr>
                <a:schemeClr val="tx1"/>
              </a:buClr>
            </a:pPr>
            <a:endParaRPr lang="en-US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Note:</a:t>
            </a:r>
            <a:r>
              <a:rPr lang="en-US" dirty="0"/>
              <a:t> remember to increment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dirty="0"/>
              <a:t>, or else the loop will continue forever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While-Loops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2586000" y="2394000"/>
            <a:ext cx="2913077" cy="240332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sz="2800" dirty="0">
                <a:solidFill>
                  <a:schemeClr val="tx1"/>
                </a:solidFill>
              </a:rPr>
              <a:t>i = 1</a:t>
            </a:r>
          </a:p>
          <a:p>
            <a:r>
              <a:rPr lang="nn-NO" sz="2800" dirty="0">
                <a:solidFill>
                  <a:schemeClr val="tx1"/>
                </a:solidFill>
              </a:rPr>
              <a:t>while i &lt; 6:</a:t>
            </a:r>
          </a:p>
          <a:p>
            <a:r>
              <a:rPr lang="nn-NO" sz="2800" dirty="0">
                <a:solidFill>
                  <a:schemeClr val="tx1"/>
                </a:solidFill>
              </a:rPr>
              <a:t>    print(i)</a:t>
            </a:r>
          </a:p>
          <a:p>
            <a:r>
              <a:rPr lang="nn-NO" sz="2800" dirty="0">
                <a:solidFill>
                  <a:schemeClr val="tx1"/>
                </a:solidFill>
              </a:rPr>
              <a:t>    i += 1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FA03F63-4510-47D8-8866-BB3825DAFF3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5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Write a program that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dirty="0"/>
              <a:t>Receives a single word from a user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dirty="0"/>
              <a:t>Reverses it and prints it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Word Reverse 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11F8E95-7CB1-4C08-8DC3-655BAA964FF2}"/>
              </a:ext>
            </a:extLst>
          </p:cNvPr>
          <p:cNvSpPr txBox="1">
            <a:spLocks/>
          </p:cNvSpPr>
          <p:nvPr/>
        </p:nvSpPr>
        <p:spPr>
          <a:xfrm>
            <a:off x="1371000" y="3654000"/>
            <a:ext cx="1902939" cy="707886"/>
          </a:xfrm>
          <a:prstGeom prst="rect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365760" tIns="182880" rIns="365760" bIns="182880">
            <a:spAutoFit/>
          </a:bodyPr>
          <a:lstStyle>
            <a:lvl1pPr marL="0" indent="0" algn="l" defTabSz="1218438" rtl="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/>
              <a:t>Python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11F8E95-7CB1-4C08-8DC3-655BAA964FF2}"/>
              </a:ext>
            </a:extLst>
          </p:cNvPr>
          <p:cNvSpPr txBox="1">
            <a:spLocks/>
          </p:cNvSpPr>
          <p:nvPr/>
        </p:nvSpPr>
        <p:spPr>
          <a:xfrm>
            <a:off x="4303055" y="3641250"/>
            <a:ext cx="2117124" cy="707886"/>
          </a:xfrm>
          <a:prstGeom prst="rect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365760" tIns="182880" rIns="365760" bIns="182880">
            <a:spAutoFit/>
          </a:bodyPr>
          <a:lstStyle>
            <a:lvl1pPr marL="0" indent="0" algn="l" defTabSz="1218438" rtl="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/>
              <a:t>nohtyP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CEE33148-B329-4648-8BC1-A55F5D10033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5FECDF54-2691-4179-BCA6-A8222F32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000" y="3467100"/>
            <a:ext cx="2816786" cy="2816786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 bwMode="auto">
          <a:xfrm>
            <a:off x="3568597" y="3805443"/>
            <a:ext cx="450000" cy="40500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682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05D8F8-983B-434C-9C28-8E32E084FC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3617" y="1764000"/>
            <a:ext cx="7364766" cy="2442846"/>
          </a:xfrm>
        </p:spPr>
        <p:txBody>
          <a:bodyPr/>
          <a:lstStyle/>
          <a:p>
            <a:r>
              <a:rPr lang="en-GB" sz="2600" dirty="0"/>
              <a:t>word = input()</a:t>
            </a:r>
          </a:p>
          <a:p>
            <a:r>
              <a:rPr lang="en-GB" sz="2600" dirty="0"/>
              <a:t>reversed_word = ""</a:t>
            </a:r>
          </a:p>
          <a:p>
            <a:r>
              <a:rPr lang="en-GB" sz="2600" dirty="0"/>
              <a:t>for i in range(len(word) - 1, -1, -1):</a:t>
            </a:r>
          </a:p>
          <a:p>
            <a:r>
              <a:rPr lang="en-GB" sz="2600" dirty="0"/>
              <a:t>    reversed_word += word[i]</a:t>
            </a:r>
          </a:p>
          <a:p>
            <a:r>
              <a:rPr lang="en-GB" sz="2600" dirty="0"/>
              <a:t>print(reversed_word)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Word Reverse 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731ECB-2E8B-4142-9D1E-4EADE99D1A3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27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Write a program which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dirty="0"/>
              <a:t>Reads floating-point numbers from the console until it receives a number between 1 and 100 inclusive</a:t>
            </a:r>
          </a:p>
          <a:p>
            <a:pPr marL="1066419" lvl="1" indent="-457200">
              <a:buFont typeface="Wingdings" panose="05000000000000000000" pitchFamily="2" charset="2"/>
              <a:buChar char="§"/>
            </a:pPr>
            <a:r>
              <a:rPr lang="en-US" dirty="0"/>
              <a:t>When the correct number is received, stop reading and print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"The number {number} is between 1 and 100"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Number Between 1 and 100 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11F8E95-7CB1-4C08-8DC3-655BAA964FF2}"/>
              </a:ext>
            </a:extLst>
          </p:cNvPr>
          <p:cNvSpPr txBox="1">
            <a:spLocks/>
          </p:cNvSpPr>
          <p:nvPr/>
        </p:nvSpPr>
        <p:spPr>
          <a:xfrm>
            <a:off x="1416000" y="4509000"/>
            <a:ext cx="1224701" cy="1692771"/>
          </a:xfrm>
          <a:prstGeom prst="rect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365760" tIns="182880" rIns="365760" bIns="182880">
            <a:spAutoFit/>
          </a:bodyPr>
          <a:lstStyle>
            <a:lvl1pPr marL="0" indent="0" algn="l" defTabSz="1218438" rtl="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/>
              <a:t>-3</a:t>
            </a:r>
          </a:p>
          <a:p>
            <a:pPr algn="ctr"/>
            <a:r>
              <a:rPr lang="en-US" sz="2200" dirty="0"/>
              <a:t>0.9</a:t>
            </a:r>
          </a:p>
          <a:p>
            <a:pPr algn="ctr"/>
            <a:r>
              <a:rPr lang="en-US" sz="2200" dirty="0"/>
              <a:t>44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11F8E95-7CB1-4C08-8DC3-655BAA964FF2}"/>
              </a:ext>
            </a:extLst>
          </p:cNvPr>
          <p:cNvSpPr txBox="1">
            <a:spLocks/>
          </p:cNvSpPr>
          <p:nvPr/>
        </p:nvSpPr>
        <p:spPr>
          <a:xfrm>
            <a:off x="4106299" y="4961316"/>
            <a:ext cx="6335417" cy="707886"/>
          </a:xfrm>
          <a:prstGeom prst="rect">
            <a:avLst/>
          </a:prstGeom>
          <a:solidFill>
            <a:schemeClr val="tx2">
              <a:lumMod val="40000"/>
              <a:lumOff val="60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365760" tIns="182880" rIns="365760" bIns="182880">
            <a:spAutoFit/>
          </a:bodyPr>
          <a:lstStyle>
            <a:lvl1pPr marL="0" indent="0" algn="l" defTabSz="1218438" rtl="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989981" indent="-380762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/>
              <a:t>The number 44 is between 1 and 100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F94EABC5-9DCE-492A-B8EE-E5F7DC65AECC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Right Arrow 2"/>
          <p:cNvSpPr/>
          <p:nvPr/>
        </p:nvSpPr>
        <p:spPr bwMode="auto">
          <a:xfrm>
            <a:off x="3081000" y="5112759"/>
            <a:ext cx="585000" cy="40500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458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CB6CC-4C78-4125-8C84-069A1BDC32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6117" y="1719000"/>
            <a:ext cx="10379766" cy="228021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number = float(input())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while number &lt; 1 or number &gt; 100: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    number = float(input())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print(f'The number {number} is between 1 and 100')</a:t>
            </a:r>
            <a:endParaRPr lang="bg-BG" sz="2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Solution: Number Between 1 and 100 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E52D131-76F3-4787-A736-8C0ECEDA078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FECDF54-2691-4179-BCA6-A8222F32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000" y="4387501"/>
            <a:ext cx="2267999" cy="226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7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C850D8D-B775-4D85-946D-35E3FA1CA480}"/>
              </a:ext>
            </a:extLst>
          </p:cNvPr>
          <p:cNvSpPr/>
          <p:nvPr/>
        </p:nvSpPr>
        <p:spPr bwMode="auto">
          <a:xfrm>
            <a:off x="4267201" y="807603"/>
            <a:ext cx="3657600" cy="3657600"/>
          </a:xfrm>
          <a:prstGeom prst="ellipse">
            <a:avLst/>
          </a:prstGeom>
          <a:solidFill>
            <a:schemeClr val="bg2">
              <a:alpha val="50000"/>
            </a:schemeClr>
          </a:solidFill>
          <a:ln w="19050">
            <a:solidFill>
              <a:schemeClr val="bg2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81FC0-F9E1-4F98-BD63-32D2F567584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Live Exercises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64FCD-7800-435E-869A-D8FA4DBBE2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67201" y="629976"/>
            <a:ext cx="3124201" cy="383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12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">
            <a:extLst>
              <a:ext uri="{FF2B5EF4-FFF2-40B4-BE49-F238E27FC236}">
                <a16:creationId xmlns:a16="http://schemas.microsoft.com/office/drawing/2014/main" id="{4B3EC666-83E0-4D47-B348-5F60E2A93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89644" y="1336681"/>
            <a:ext cx="8632995" cy="5300339"/>
            <a:chOff x="471000" y="1508785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1000" y="1508785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Wingdings" pitchFamily="2" charset="2"/>
                <a:buChar char="§"/>
              </a:pPr>
              <a:endParaRPr lang="ko-KR" altLang="en-US" sz="3200" dirty="0">
                <a:solidFill>
                  <a:schemeClr val="bg2"/>
                </a:solidFill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Wingdings" pitchFamily="2" charset="2"/>
                <a:buChar char="§"/>
              </a:pPr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Wingdings" pitchFamily="2" charset="2"/>
                <a:buChar char="§"/>
              </a:pPr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58463" y="3277415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73AC257-A0F4-4265-8C0F-3CB5C237A93D}"/>
              </a:ext>
            </a:extLst>
          </p:cNvPr>
          <p:cNvSpPr txBox="1">
            <a:spLocks/>
          </p:cNvSpPr>
          <p:nvPr/>
        </p:nvSpPr>
        <p:spPr>
          <a:xfrm>
            <a:off x="699285" y="1679513"/>
            <a:ext cx="8125652" cy="5245321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endParaRPr lang="en-US" sz="2800" dirty="0">
              <a:solidFill>
                <a:schemeClr val="bg2"/>
              </a:solidFill>
              <a:latin typeface="Malgun Gothic (Body)"/>
            </a:endParaRP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373AC257-A0F4-4265-8C0F-3CB5C237A93D}"/>
              </a:ext>
            </a:extLst>
          </p:cNvPr>
          <p:cNvSpPr txBox="1">
            <a:spLocks/>
          </p:cNvSpPr>
          <p:nvPr/>
        </p:nvSpPr>
        <p:spPr>
          <a:xfrm>
            <a:off x="450860" y="1679513"/>
            <a:ext cx="8060471" cy="4539487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30000"/>
              </a:lnSpc>
            </a:pPr>
            <a:r>
              <a:rPr lang="en-US" sz="3400" dirty="0">
                <a:solidFill>
                  <a:schemeClr val="bg2"/>
                </a:solidFill>
              </a:rPr>
              <a:t>We learned how to:</a:t>
            </a:r>
          </a:p>
          <a:p>
            <a:pPr lvl="1" latinLnBrk="0">
              <a:lnSpc>
                <a:spcPct val="130000"/>
              </a:lnSpc>
            </a:pPr>
            <a:r>
              <a:rPr lang="en-US" sz="3200" dirty="0">
                <a:solidFill>
                  <a:schemeClr val="bg2"/>
                </a:solidFill>
              </a:rPr>
              <a:t>Execute code based on different conditions</a:t>
            </a:r>
          </a:p>
          <a:p>
            <a:pPr lvl="1" latinLnBrk="0">
              <a:lnSpc>
                <a:spcPct val="130000"/>
              </a:lnSpc>
            </a:pPr>
            <a:r>
              <a:rPr lang="en-US" sz="3200" dirty="0">
                <a:solidFill>
                  <a:schemeClr val="bg2"/>
                </a:solidFill>
              </a:rPr>
              <a:t>Use loops to execute a block of code </a:t>
            </a:r>
            <a:br>
              <a:rPr lang="en-US" sz="3200" dirty="0">
                <a:solidFill>
                  <a:schemeClr val="bg2"/>
                </a:solidFill>
              </a:rPr>
            </a:br>
            <a:r>
              <a:rPr lang="en-US" sz="3200" dirty="0">
                <a:solidFill>
                  <a:schemeClr val="bg2"/>
                </a:solidFill>
              </a:rPr>
              <a:t>multiple times on different elements </a:t>
            </a:r>
          </a:p>
          <a:p>
            <a:pPr lvl="1" latinLnBrk="0">
              <a:lnSpc>
                <a:spcPct val="130000"/>
              </a:lnSpc>
            </a:pPr>
            <a:r>
              <a:rPr lang="en-US" sz="3200" dirty="0">
                <a:solidFill>
                  <a:schemeClr val="bg2"/>
                </a:solidFill>
              </a:rPr>
              <a:t>Stop/skip iterations in loops</a:t>
            </a:r>
          </a:p>
        </p:txBody>
      </p:sp>
      <p:sp>
        <p:nvSpPr>
          <p:cNvPr id="2" name="Правоъгълник 1"/>
          <p:cNvSpPr/>
          <p:nvPr/>
        </p:nvSpPr>
        <p:spPr>
          <a:xfrm>
            <a:off x="279572" y="1679513"/>
            <a:ext cx="973300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buFont typeface="Wingdings" pitchFamily="2" charset="2"/>
              <a:buChar char="§"/>
            </a:pPr>
            <a:endParaRPr lang="en-US" sz="3200" dirty="0">
              <a:solidFill>
                <a:schemeClr val="bg2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endParaRPr lang="ko-KR" altLang="en-US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18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>
                <a:solidFill>
                  <a:srgbClr val="234465"/>
                </a:solidFill>
              </a:rPr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26755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</a:t>
            </a:r>
            <a:r>
              <a:rPr lang="en-US"/>
              <a:t>– </a:t>
            </a:r>
            <a:r>
              <a:rPr lang="en-US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3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34114123-C942-490F-A6BB-FD3CFFFE4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softuni.org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1441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1_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3664</TotalTime>
  <Words>1481</Words>
  <Application>Microsoft Office PowerPoint</Application>
  <PresentationFormat>Widescreen</PresentationFormat>
  <Paragraphs>264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Consolas</vt:lpstr>
      <vt:lpstr>Malgun Gothic (Body)</vt:lpstr>
      <vt:lpstr>Wingdings</vt:lpstr>
      <vt:lpstr>Wingdings 2</vt:lpstr>
      <vt:lpstr>1_SoftUni</vt:lpstr>
      <vt:lpstr>Basic Syntax, Conditional Statements and Loops</vt:lpstr>
      <vt:lpstr>Table of Contents</vt:lpstr>
      <vt:lpstr>Have a Question?</vt:lpstr>
      <vt:lpstr>Basic Syntax and First Steps</vt:lpstr>
      <vt:lpstr>Installing Python</vt:lpstr>
      <vt:lpstr>Run Python in Command Prompt</vt:lpstr>
      <vt:lpstr>Write Python in IDE</vt:lpstr>
      <vt:lpstr>Basic Syntax</vt:lpstr>
      <vt:lpstr>Conditional Statements</vt:lpstr>
      <vt:lpstr>The If-Statement</vt:lpstr>
      <vt:lpstr>Indentation</vt:lpstr>
      <vt:lpstr>The Else-Statement</vt:lpstr>
      <vt:lpstr>The Elif-Statement</vt:lpstr>
      <vt:lpstr>And and Or</vt:lpstr>
      <vt:lpstr>Check Number Range</vt:lpstr>
      <vt:lpstr>Problem: Largest of Three Numbers</vt:lpstr>
      <vt:lpstr>Solution: Biggest of Three Numbers </vt:lpstr>
      <vt:lpstr>Problem: Number Definer </vt:lpstr>
      <vt:lpstr>Solution: Number Definer </vt:lpstr>
      <vt:lpstr>Loops</vt:lpstr>
      <vt:lpstr>For-Loops</vt:lpstr>
      <vt:lpstr>The Range Function</vt:lpstr>
      <vt:lpstr>The Break Statement</vt:lpstr>
      <vt:lpstr>The Continue Statement</vt:lpstr>
      <vt:lpstr>While-Loops</vt:lpstr>
      <vt:lpstr>Problem: Word Reverse </vt:lpstr>
      <vt:lpstr>Solution: Word Reverse </vt:lpstr>
      <vt:lpstr>Problem: Number Between 1 and 100 </vt:lpstr>
      <vt:lpstr>Solution: Number Between 1 and 100 </vt:lpstr>
      <vt:lpstr>Live Exercises</vt:lpstr>
      <vt:lpstr>Summary</vt:lpstr>
      <vt:lpstr>Questions?</vt:lpstr>
      <vt:lpstr>License</vt:lpstr>
      <vt:lpstr>Trainings @ Software University (SoftUni)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Programing Fundamentals Python - Conditional Statements and Loops</dc:title>
  <dc:subject>Software Development</dc:subject>
  <dc:creator>Software University</dc:creator>
  <cp:keywords>programing fundamentals; python; Software University; SoftUni; programming; coding; software development; education; training; course</cp:keywords>
  <dc:description>© SoftUni – https://softuni.org_x000d_
© Software University – https://softuni.bg_x000d_
_x000d_
Copyrighted document. Unauthorized copy, reproduction or use is not permitted.</dc:description>
  <cp:lastModifiedBy>Aleksandra Raykova</cp:lastModifiedBy>
  <cp:revision>95</cp:revision>
  <dcterms:created xsi:type="dcterms:W3CDTF">2018-05-23T13:08:44Z</dcterms:created>
  <dcterms:modified xsi:type="dcterms:W3CDTF">2021-08-10T10:01:18Z</dcterms:modified>
  <cp:category>Python Fundamentals Course @ SoftUni: https://softuni.bg/trainings/2442/python-fundamentals-september-2019</cp:category>
</cp:coreProperties>
</file>