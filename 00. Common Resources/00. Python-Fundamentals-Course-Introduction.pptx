
<file path=[Content_Types].xml><?xml version="1.0" encoding="utf-8"?>
<Types xmlns="http://schemas.openxmlformats.org/package/2006/content-types">
  <Default Extension="emf" ContentType="image/x-emf"/>
  <Default Extension="jfif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3"/>
  </p:notesMasterIdLst>
  <p:handoutMasterIdLst>
    <p:handoutMasterId r:id="rId24"/>
  </p:handoutMasterIdLst>
  <p:sldIdLst>
    <p:sldId id="394" r:id="rId2"/>
    <p:sldId id="476" r:id="rId3"/>
    <p:sldId id="508" r:id="rId4"/>
    <p:sldId id="259" r:id="rId5"/>
    <p:sldId id="316" r:id="rId6"/>
    <p:sldId id="535" r:id="rId7"/>
    <p:sldId id="479" r:id="rId8"/>
    <p:sldId id="536" r:id="rId9"/>
    <p:sldId id="554" r:id="rId10"/>
    <p:sldId id="483" r:id="rId11"/>
    <p:sldId id="551" r:id="rId12"/>
    <p:sldId id="281" r:id="rId13"/>
    <p:sldId id="415" r:id="rId14"/>
    <p:sldId id="543" r:id="rId15"/>
    <p:sldId id="492" r:id="rId16"/>
    <p:sldId id="594" r:id="rId17"/>
    <p:sldId id="282" r:id="rId18"/>
    <p:sldId id="494" r:id="rId19"/>
    <p:sldId id="401" r:id="rId20"/>
    <p:sldId id="405" r:id="rId21"/>
    <p:sldId id="49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7CEFE76-0D92-4ECD-A7AE-B45239720B57}">
          <p14:sldIdLst>
            <p14:sldId id="394"/>
            <p14:sldId id="476"/>
            <p14:sldId id="508"/>
            <p14:sldId id="259"/>
            <p14:sldId id="316"/>
          </p14:sldIdLst>
        </p14:section>
        <p14:section name="Course Objective" id="{38EDA8F8-2B1A-4660-9AA1-51D5D1D2D4C8}">
          <p14:sldIdLst>
            <p14:sldId id="535"/>
            <p14:sldId id="479"/>
            <p14:sldId id="536"/>
            <p14:sldId id="554"/>
          </p14:sldIdLst>
        </p14:section>
        <p14:section name="Team" id="{40CAFEF6-FE20-4851-889D-14E8131F05C8}">
          <p14:sldIdLst>
            <p14:sldId id="483"/>
            <p14:sldId id="551"/>
            <p14:sldId id="281"/>
          </p14:sldIdLst>
        </p14:section>
        <p14:section name="Course Organization" id="{39D4978A-F081-4FDA-84F9-2C11BED80BA3}">
          <p14:sldIdLst>
            <p14:sldId id="415"/>
            <p14:sldId id="543"/>
            <p14:sldId id="492"/>
            <p14:sldId id="594"/>
            <p14:sldId id="282"/>
            <p14:sldId id="494"/>
            <p14:sldId id="401"/>
          </p14:sldIdLst>
        </p14:section>
        <p14:section name="Conclusion" id="{70BCAA68-B98F-44B8-948E-0009AF2D30E0}">
          <p14:sldIdLst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5710B-E253-66CB-86A3-2FED9E0179F7}" v="53" dt="2020-01-10T10:08:05.375"/>
    <p1510:client id="{DA4D5FAE-A3C5-2003-CE13-0A02FB0BC58D}" v="90" dt="2020-01-09T13:24:51.757"/>
    <p1510:client id="{EE43E3D0-5C8D-B033-D66D-D8DEA961156F}" v="56" dt="2020-01-09T11:52:50.48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5214" autoAdjust="0"/>
  </p:normalViewPr>
  <p:slideViewPr>
    <p:cSldViewPr showGuides="1">
      <p:cViewPr varScale="1">
        <p:scale>
          <a:sx n="82" d="100"/>
          <a:sy n="82" d="100"/>
        </p:scale>
        <p:origin x="470" y="5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19.5.2021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DBED9DB9-C712-4E4B-A213-BBF5258339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741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4DA39FA-6DB3-40FD-B079-165A802863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4158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6CC53E5-CF1B-4393-8B8A-7EF8768B55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728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</a:t>
            </a:r>
            <a:r>
              <a:rPr lang="en-US" dirty="0" err="1"/>
              <a:t>SoftUni</a:t>
            </a:r>
            <a:r>
              <a:rPr lang="en-US" dirty="0"/>
              <a:t> -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0673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FC85FFA-4B74-43F4-9C9F-F3386A502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63311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FC85FFA-4B74-43F4-9C9F-F3386A502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719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F2598F3-4EB7-4620-A4DC-584E9A695D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23604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6A27C04-0FA1-4774-BD8E-58EB618845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29300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EB5F0D4-14F7-4381-9736-0D09E2D472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04538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54827EC-DD91-4D35-AE19-0E6E9D316A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60097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hyperlink" Target="https://softuni.bg/" TargetMode="External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9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13" name="Picture Logo SoftUni" descr="SoftUni logo">
            <a:extLst>
              <a:ext uri="{FF2B5EF4-FFF2-40B4-BE49-F238E27FC236}">
                <a16:creationId xmlns:a16="http://schemas.microsoft.com/office/drawing/2014/main" id="{D44D1ED0-4CF2-48F5-8601-EF19DBFF30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pic>
        <p:nvPicPr>
          <p:cNvPr id="15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61176CCE-C3CD-48FC-A363-C9C6B2F9C7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1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96548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C90454A8-8DED-41FA-8C64-98C59ED05AC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Logo Software University" descr="Software University logo">
            <a:extLst>
              <a:ext uri="{FF2B5EF4-FFF2-40B4-BE49-F238E27FC236}">
                <a16:creationId xmlns:a16="http://schemas.microsoft.com/office/drawing/2014/main" id="{B26EA1B0-5C01-4B1F-A7D5-69585F52AE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7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Logo Software University" descr="Software University logo">
            <a:extLst>
              <a:ext uri="{FF2B5EF4-FFF2-40B4-BE49-F238E27FC236}">
                <a16:creationId xmlns:a16="http://schemas.microsoft.com/office/drawing/2014/main" id="{83B923C4-F02D-4169-A71A-ED47E08A19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9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Logo Software University" descr="Software University logo">
            <a:extLst>
              <a:ext uri="{FF2B5EF4-FFF2-40B4-BE49-F238E27FC236}">
                <a16:creationId xmlns:a16="http://schemas.microsoft.com/office/drawing/2014/main" id="{E177DF36-5BBE-4A33-8858-3556FD80B9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5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Rectangle Left">
            <a:extLst>
              <a:ext uri="{FF2B5EF4-FFF2-40B4-BE49-F238E27FC236}">
                <a16:creationId xmlns:a16="http://schemas.microsoft.com/office/drawing/2014/main" id="{E50D9555-E13D-4A67-8313-A5A265A0FE6C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6" name="Picture Bulb" descr="Bulb">
            <a:extLst>
              <a:ext uri="{FF2B5EF4-FFF2-40B4-BE49-F238E27FC236}">
                <a16:creationId xmlns:a16="http://schemas.microsoft.com/office/drawing/2014/main" id="{80F4EBEF-C2A0-467A-9B0F-5FE1D0EE18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46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2" name="Rectangle Top">
            <a:extLst>
              <a:ext uri="{FF2B5EF4-FFF2-40B4-BE49-F238E27FC236}">
                <a16:creationId xmlns:a16="http://schemas.microsoft.com/office/drawing/2014/main" id="{62562327-834D-41B7-8EB4-A03A103927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3" name="Logo Software University" descr="Software University logo">
            <a:extLst>
              <a:ext uri="{FF2B5EF4-FFF2-40B4-BE49-F238E27FC236}">
                <a16:creationId xmlns:a16="http://schemas.microsoft.com/office/drawing/2014/main" id="{3884463E-D640-483D-95CD-BACDF8A390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sp>
        <p:nvSpPr>
          <p:cNvPr id="12" name="Rectangle Top">
            <a:extLst>
              <a:ext uri="{FF2B5EF4-FFF2-40B4-BE49-F238E27FC236}">
                <a16:creationId xmlns:a16="http://schemas.microsoft.com/office/drawing/2014/main" id="{FD77484E-1466-4B8B-A7AB-A7354212EEC9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AE0CB74C-3F21-4FFA-94BF-B00D6E1DC2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6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C001D526-445B-4E2E-A3FC-CF4EA7638816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26A4EFFF-377A-45B9-A482-3A9379B000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702F695C-9F40-4BDE-AEE4-EE797F51CA65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14236D8A-9B04-45F8-B77A-7C90CF2B2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8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title style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37" name="Rectangle Bottom">
            <a:extLst>
              <a:ext uri="{FF2B5EF4-FFF2-40B4-BE49-F238E27FC236}">
                <a16:creationId xmlns:a16="http://schemas.microsoft.com/office/drawing/2014/main" id="{9E030181-A088-4EDD-8DDE-1513AA32D227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8" name="Rectangle Bottom Copyright">
            <a:extLst>
              <a:ext uri="{FF2B5EF4-FFF2-40B4-BE49-F238E27FC236}">
                <a16:creationId xmlns:a16="http://schemas.microsoft.com/office/drawing/2014/main" id="{783294F7-377E-4FDE-ACE9-234E2C336881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12"/>
              </a:rPr>
              <a:t>https://softuni.bg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SoftUni Brands">
            <a:extLst>
              <a:ext uri="{FF2B5EF4-FFF2-40B4-BE49-F238E27FC236}">
                <a16:creationId xmlns:a16="http://schemas.microsoft.com/office/drawing/2014/main" id="{8026D843-283F-436B-AAB7-380A4AD7465E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40" name="Picture SoftUni Kids Logo" descr="SoftUni Kids logo">
              <a:extLst>
                <a:ext uri="{FF2B5EF4-FFF2-40B4-BE49-F238E27FC236}">
                  <a16:creationId xmlns:a16="http://schemas.microsoft.com/office/drawing/2014/main" id="{542FD576-C21D-443D-9B73-A2B88194E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41" name="Picture SoftUni Foundation Logo" descr="SoftUni Foundation logo">
              <a:extLst>
                <a:ext uri="{FF2B5EF4-FFF2-40B4-BE49-F238E27FC236}">
                  <a16:creationId xmlns:a16="http://schemas.microsoft.com/office/drawing/2014/main" id="{38768FDA-4969-4493-92B2-4FC5947905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42" name="Picture SoftUni Digital Logo" descr="SoftUni Digital logo">
              <a:extLst>
                <a:ext uri="{FF2B5EF4-FFF2-40B4-BE49-F238E27FC236}">
                  <a16:creationId xmlns:a16="http://schemas.microsoft.com/office/drawing/2014/main" id="{11216FEE-BDE4-4455-85E9-0DB76F8DE7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43" name="Picture SoftUni Creative Logo" descr="SoftUni Creative logo">
              <a:extLst>
                <a:ext uri="{FF2B5EF4-FFF2-40B4-BE49-F238E27FC236}">
                  <a16:creationId xmlns:a16="http://schemas.microsoft.com/office/drawing/2014/main" id="{85757D8D-A59F-49B0-8E6F-147C5E73C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44" name="Picture SoftUni Svetlina Logo" descr="SoftUni Svetlina logo">
              <a:extLst>
                <a:ext uri="{FF2B5EF4-FFF2-40B4-BE49-F238E27FC236}">
                  <a16:creationId xmlns:a16="http://schemas.microsoft.com/office/drawing/2014/main" id="{9C46B9D5-E39A-4711-AD51-59D98E677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45" name="Picture Software University Logo" descr="Software University logo">
              <a:extLst>
                <a:ext uri="{FF2B5EF4-FFF2-40B4-BE49-F238E27FC236}">
                  <a16:creationId xmlns:a16="http://schemas.microsoft.com/office/drawing/2014/main" id="{C84D0005-71D8-43E6-BF4A-A722262F0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46" name="Straight Connector 6">
              <a:extLst>
                <a:ext uri="{FF2B5EF4-FFF2-40B4-BE49-F238E27FC236}">
                  <a16:creationId xmlns:a16="http://schemas.microsoft.com/office/drawing/2014/main" id="{ADCE3C48-8FED-42B6-8834-FFB04B29C0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5">
              <a:extLst>
                <a:ext uri="{FF2B5EF4-FFF2-40B4-BE49-F238E27FC236}">
                  <a16:creationId xmlns:a16="http://schemas.microsoft.com/office/drawing/2014/main" id="{9ED79F8B-1C43-4037-8070-54A495219F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">
              <a:extLst>
                <a:ext uri="{FF2B5EF4-FFF2-40B4-BE49-F238E27FC236}">
                  <a16:creationId xmlns:a16="http://schemas.microsoft.com/office/drawing/2014/main" id="{086480B1-4F23-47F8-8C9A-E4A583930EC2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3">
              <a:extLst>
                <a:ext uri="{FF2B5EF4-FFF2-40B4-BE49-F238E27FC236}">
                  <a16:creationId xmlns:a16="http://schemas.microsoft.com/office/drawing/2014/main" id="{E9C430F3-BD4C-4575-BE98-94BD331592C0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">
              <a:extLst>
                <a:ext uri="{FF2B5EF4-FFF2-40B4-BE49-F238E27FC236}">
                  <a16:creationId xmlns:a16="http://schemas.microsoft.com/office/drawing/2014/main" id="{A83047C6-45DD-4A6E-BDF0-9EDF332DA111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">
              <a:extLst>
                <a:ext uri="{FF2B5EF4-FFF2-40B4-BE49-F238E27FC236}">
                  <a16:creationId xmlns:a16="http://schemas.microsoft.com/office/drawing/2014/main" id="{6E765456-C93E-4140-B48B-640E39889EDA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Horizontal">
              <a:extLst>
                <a:ext uri="{FF2B5EF4-FFF2-40B4-BE49-F238E27FC236}">
                  <a16:creationId xmlns:a16="http://schemas.microsoft.com/office/drawing/2014/main" id="{AA1F1997-D421-44DD-B450-32C07CC5DC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0">
              <a:extLst>
                <a:ext uri="{FF2B5EF4-FFF2-40B4-BE49-F238E27FC236}">
                  <a16:creationId xmlns:a16="http://schemas.microsoft.com/office/drawing/2014/main" id="{4BC72550-E848-4E47-8509-9B0E4BFFA073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SoftUni Logo" descr="SoftUni logo">
              <a:extLst>
                <a:ext uri="{FF2B5EF4-FFF2-40B4-BE49-F238E27FC236}">
                  <a16:creationId xmlns:a16="http://schemas.microsoft.com/office/drawing/2014/main" id="{59DE12F7-2B75-495E-B6EC-B3B237B86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pic>
        <p:nvPicPr>
          <p:cNvPr id="56" name="Logo Software University" descr="Software University logo">
            <a:extLst>
              <a:ext uri="{FF2B5EF4-FFF2-40B4-BE49-F238E27FC236}">
                <a16:creationId xmlns:a16="http://schemas.microsoft.com/office/drawing/2014/main" id="{64DE2925-F36E-4DD6-AA59-0A9A3670FF4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4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about.softuni.bg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  <p:pic>
        <p:nvPicPr>
          <p:cNvPr id="14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1C43AE09-DE35-4686-862E-5E5E4309AB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5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E6EAF131-FAAC-45C9-AAC5-29662E2FBFE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FCFB34C-7F6A-465E-AE2A-8739B7596A8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sp>
        <p:nvSpPr>
          <p:cNvPr id="22" name="Rectangle Top">
            <a:extLst>
              <a:ext uri="{FF2B5EF4-FFF2-40B4-BE49-F238E27FC236}">
                <a16:creationId xmlns:a16="http://schemas.microsoft.com/office/drawing/2014/main" id="{054BF032-AFA8-4D54-802D-F636E7E20454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3" name="Logo Software University" descr="Software University logo">
            <a:extLst>
              <a:ext uri="{FF2B5EF4-FFF2-40B4-BE49-F238E27FC236}">
                <a16:creationId xmlns:a16="http://schemas.microsoft.com/office/drawing/2014/main" id="{418F2A3B-CFCB-4EBF-8462-6E2EA674E9B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9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5" name="Picture Background" descr="SoftUni Background">
            <a:extLst>
              <a:ext uri="{FF2B5EF4-FFF2-40B4-BE49-F238E27FC236}">
                <a16:creationId xmlns:a16="http://schemas.microsoft.com/office/drawing/2014/main" id="{B70F905C-78B1-4486-9420-F27765711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5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hyperlink" Target="https://coca-colahellenic.com/" TargetMode="External"/><Relationship Id="rId18" Type="http://schemas.openxmlformats.org/officeDocument/2006/relationships/image" Target="../media/image31.png"/><Relationship Id="rId3" Type="http://schemas.openxmlformats.org/officeDocument/2006/relationships/hyperlink" Target="http://www.infragistics.com/" TargetMode="External"/><Relationship Id="rId21" Type="http://schemas.openxmlformats.org/officeDocument/2006/relationships/image" Target="../media/image33.png"/><Relationship Id="rId7" Type="http://schemas.openxmlformats.org/officeDocument/2006/relationships/hyperlink" Target="http://www.postbank.bg/" TargetMode="External"/><Relationship Id="rId12" Type="http://schemas.openxmlformats.org/officeDocument/2006/relationships/image" Target="../media/image28.jpeg"/><Relationship Id="rId17" Type="http://schemas.openxmlformats.org/officeDocument/2006/relationships/hyperlink" Target="https://www.zuehlke.com/" TargetMode="Externa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20" Type="http://schemas.openxmlformats.org/officeDocument/2006/relationships/image" Target="../media/image32.jfi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hyperlink" Target="https://motion-software.com/" TargetMode="External"/><Relationship Id="rId5" Type="http://schemas.openxmlformats.org/officeDocument/2006/relationships/hyperlink" Target="https://www.indeavr.com/en" TargetMode="External"/><Relationship Id="rId15" Type="http://schemas.openxmlformats.org/officeDocument/2006/relationships/hyperlink" Target="https://www.xs-software.com/" TargetMode="External"/><Relationship Id="rId10" Type="http://schemas.openxmlformats.org/officeDocument/2006/relationships/image" Target="../media/image27.png"/><Relationship Id="rId19" Type="http://schemas.openxmlformats.org/officeDocument/2006/relationships/hyperlink" Target="https://www.softwaregroup.com/" TargetMode="External"/><Relationship Id="rId4" Type="http://schemas.openxmlformats.org/officeDocument/2006/relationships/image" Target="../media/image24.png"/><Relationship Id="rId9" Type="http://schemas.openxmlformats.org/officeDocument/2006/relationships/hyperlink" Target="http://smartit.bg/" TargetMode="External"/><Relationship Id="rId14" Type="http://schemas.openxmlformats.org/officeDocument/2006/relationships/image" Target="../media/image29.png"/><Relationship Id="rId22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eee.bg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codexio.b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courses/programming-fundamentals-csharp-java-js-pyth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acebook.com/groups/SoftUniPythonCommunity" TargetMode="Externa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554670" y="5390699"/>
            <a:ext cx="2980696" cy="351754"/>
          </a:xfrm>
        </p:spPr>
        <p:txBody>
          <a:bodyPr/>
          <a:lstStyle/>
          <a:p>
            <a:r>
              <a:rPr lang="en-US" sz="1800" dirty="0"/>
              <a:t>Technical Trainers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72561" y="4938804"/>
            <a:ext cx="2950749" cy="382788"/>
          </a:xfrm>
        </p:spPr>
        <p:txBody>
          <a:bodyPr/>
          <a:lstStyle/>
          <a:p>
            <a:r>
              <a:rPr lang="en-US" sz="2000" dirty="0"/>
              <a:t>SoftUni Team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8275" y="1303142"/>
            <a:ext cx="10962447" cy="882654"/>
          </a:xfrm>
        </p:spPr>
        <p:txBody>
          <a:bodyPr>
            <a:normAutofit/>
          </a:bodyPr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Fundamentals</a:t>
            </a:r>
          </a:p>
        </p:txBody>
      </p:sp>
      <p:pic>
        <p:nvPicPr>
          <p:cNvPr id="1026" name="Picture 2" descr="Ð ÐµÐ·ÑÐ»ÑÐ°Ñ Ñ Ð¸Ð·Ð¾Ð±ÑÐ°Ð¶ÐµÐ½Ð¸Ðµ Ð·Ð° python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2239295"/>
            <a:ext cx="5105400" cy="25527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82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Course Objectives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Training and Team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Course Organization</a:t>
            </a:r>
          </a:p>
          <a:p>
            <a:pPr marL="932996" lvl="1" indent="-457200">
              <a:lnSpc>
                <a:spcPts val="4000"/>
              </a:lnSpc>
            </a:pPr>
            <a:r>
              <a:rPr lang="en-US" dirty="0"/>
              <a:t>Course Infrastructure</a:t>
            </a:r>
          </a:p>
          <a:p>
            <a:pPr marL="932996" lvl="1" indent="-457200">
              <a:lnSpc>
                <a:spcPts val="4000"/>
              </a:lnSpc>
            </a:pPr>
            <a:r>
              <a:rPr lang="en-US" dirty="0"/>
              <a:t>Evaluation Criteria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E5FCC25-8780-4A48-BFC5-CF2D1133380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9194F119-2B63-4D73-9102-121D9196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#fund-python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</p:spTree>
    <p:extLst>
      <p:ext uri="{BB962C8B-B14F-4D97-AF65-F5344CB8AC3E}">
        <p14:creationId xmlns:p14="http://schemas.microsoft.com/office/powerpoint/2010/main" val="294193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2">
            <a:extLst>
              <a:ext uri="{FF2B5EF4-FFF2-40B4-BE49-F238E27FC236}">
                <a16:creationId xmlns:a16="http://schemas.microsoft.com/office/drawing/2014/main" id="{752C4BD6-71AA-4741-855F-BE2CE126C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9715594" cy="882654"/>
          </a:xfrm>
        </p:spPr>
        <p:txBody>
          <a:bodyPr>
            <a:normAutofit/>
          </a:bodyPr>
          <a:lstStyle/>
          <a:p>
            <a:r>
              <a:rPr lang="en-GB" dirty="0"/>
              <a:t>SoftUni Diamond Partners</a:t>
            </a:r>
            <a:endParaRPr lang="bg-BG" dirty="0"/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0FD86530-48F7-433C-A1B6-D49C68D8D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41" name="Infragistics">
            <a:hlinkClick r:id="rId3"/>
            <a:extLst>
              <a:ext uri="{FF2B5EF4-FFF2-40B4-BE49-F238E27FC236}">
                <a16:creationId xmlns:a16="http://schemas.microsoft.com/office/drawing/2014/main" id="{7DBC1311-2D5E-40CF-B542-ADAD7BF3FE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" r="2512"/>
          <a:stretch/>
        </p:blipFill>
        <p:spPr>
          <a:xfrm>
            <a:off x="8048209" y="2547249"/>
            <a:ext cx="3625551" cy="100971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42" name="Indeavr">
            <a:hlinkClick r:id="rId5"/>
            <a:extLst>
              <a:ext uri="{FF2B5EF4-FFF2-40B4-BE49-F238E27FC236}">
                <a16:creationId xmlns:a16="http://schemas.microsoft.com/office/drawing/2014/main" id="{3B8330E4-3546-4C6B-A905-3AB679969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9" t="4939" r="-5810" b="5775"/>
          <a:stretch/>
        </p:blipFill>
        <p:spPr bwMode="auto">
          <a:xfrm>
            <a:off x="4427954" y="1393728"/>
            <a:ext cx="3334615" cy="96679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43" name="Postbank">
            <a:hlinkClick r:id="rId7"/>
            <a:extLst>
              <a:ext uri="{FF2B5EF4-FFF2-40B4-BE49-F238E27FC236}">
                <a16:creationId xmlns:a16="http://schemas.microsoft.com/office/drawing/2014/main" id="{99D05D85-298C-453B-A3A7-88DA89904B2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749" t="-8951" r="-23891" b="-8951"/>
          <a:stretch/>
        </p:blipFill>
        <p:spPr>
          <a:xfrm>
            <a:off x="752280" y="5307007"/>
            <a:ext cx="3655944" cy="113490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44" name="SmartIT">
            <a:hlinkClick r:id="rId9"/>
            <a:extLst>
              <a:ext uri="{FF2B5EF4-FFF2-40B4-BE49-F238E27FC236}">
                <a16:creationId xmlns:a16="http://schemas.microsoft.com/office/drawing/2014/main" id="{C4C82862-3156-4AF7-8EAA-10857AAF565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27" t="-16504" r="-13960" b="-16504"/>
          <a:stretch/>
        </p:blipFill>
        <p:spPr>
          <a:xfrm>
            <a:off x="8048209" y="1393728"/>
            <a:ext cx="3625551" cy="989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45" name="Codexio">
            <a:hlinkClick r:id="rId11"/>
            <a:extLst>
              <a:ext uri="{FF2B5EF4-FFF2-40B4-BE49-F238E27FC236}">
                <a16:creationId xmlns:a16="http://schemas.microsoft.com/office/drawing/2014/main" id="{93670EDC-47BD-4669-B37B-316C4EFEF578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" t="4941" r="3550" b="4346"/>
          <a:stretch/>
        </p:blipFill>
        <p:spPr>
          <a:xfrm>
            <a:off x="4918305" y="4078250"/>
            <a:ext cx="2554395" cy="236365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sp>
        <p:nvSpPr>
          <p:cNvPr id="46" name="Slide Number">
            <a:extLst>
              <a:ext uri="{FF2B5EF4-FFF2-40B4-BE49-F238E27FC236}">
                <a16:creationId xmlns:a16="http://schemas.microsoft.com/office/drawing/2014/main" id="{481015ED-3732-404B-9C14-97EBC84E112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7" name="Picture 46">
            <a:hlinkClick r:id="rId13"/>
            <a:extLst>
              <a:ext uri="{FF2B5EF4-FFF2-40B4-BE49-F238E27FC236}">
                <a16:creationId xmlns:a16="http://schemas.microsoft.com/office/drawing/2014/main" id="{11CC3F3A-5C94-4EA5-8C7B-A8C8F36DACF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5838" t="5064" r="4136" b="5064"/>
          <a:stretch/>
        </p:blipFill>
        <p:spPr>
          <a:xfrm>
            <a:off x="752280" y="3834279"/>
            <a:ext cx="3655944" cy="123080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48" name="Picture 47">
            <a:hlinkClick r:id="rId15"/>
            <a:extLst>
              <a:ext uri="{FF2B5EF4-FFF2-40B4-BE49-F238E27FC236}">
                <a16:creationId xmlns:a16="http://schemas.microsoft.com/office/drawing/2014/main" id="{F71183D7-4D16-4250-A933-2E5649B8A4D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8224" y="2606080"/>
            <a:ext cx="1600787" cy="123080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49" name="Picture 48">
            <a:hlinkClick r:id="rId17"/>
            <a:extLst>
              <a:ext uri="{FF2B5EF4-FFF2-40B4-BE49-F238E27FC236}">
                <a16:creationId xmlns:a16="http://schemas.microsoft.com/office/drawing/2014/main" id="{96E4E86E-7A9B-4BC2-B159-53FB21C889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63258" y="2617384"/>
            <a:ext cx="1600787" cy="120820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50" name="SmartIT">
            <a:hlinkClick r:id="rId19"/>
            <a:extLst>
              <a:ext uri="{FF2B5EF4-FFF2-40B4-BE49-F238E27FC236}">
                <a16:creationId xmlns:a16="http://schemas.microsoft.com/office/drawing/2014/main" id="{9B2E2211-AB33-43EB-AB75-46A75B20C4FA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3" t="-5711" r="-3984" b="-8810"/>
          <a:stretch/>
        </p:blipFill>
        <p:spPr>
          <a:xfrm>
            <a:off x="8046733" y="5307007"/>
            <a:ext cx="3625551" cy="113490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/>
        </p:spPr>
      </p:pic>
      <p:pic>
        <p:nvPicPr>
          <p:cNvPr id="51" name="Картина 7">
            <a:extLst>
              <a:ext uri="{FF2B5EF4-FFF2-40B4-BE49-F238E27FC236}">
                <a16:creationId xmlns:a16="http://schemas.microsoft.com/office/drawing/2014/main" id="{8F4A3584-0686-47E8-ADD7-B1937FF9837D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72" t="-4131" r="-2923" b="-8314"/>
          <a:stretch/>
        </p:blipFill>
        <p:spPr>
          <a:xfrm>
            <a:off x="752280" y="1393728"/>
            <a:ext cx="3391512" cy="2163232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DCF1F5DE-69E1-4460-8BEB-B42DA7B4CC35}"/>
              </a:ext>
            </a:extLst>
          </p:cNvPr>
          <p:cNvGrpSpPr/>
          <p:nvPr/>
        </p:nvGrpSpPr>
        <p:grpSpPr>
          <a:xfrm>
            <a:off x="8046732" y="3863192"/>
            <a:ext cx="3625551" cy="1230808"/>
            <a:chOff x="8064168" y="3699000"/>
            <a:chExt cx="3608116" cy="1395000"/>
          </a:xfrm>
        </p:grpSpPr>
        <p:pic>
          <p:nvPicPr>
            <p:cNvPr id="53" name="Picture 52" descr="Logo&#10;&#10;Description automatically generated">
              <a:extLst>
                <a:ext uri="{FF2B5EF4-FFF2-40B4-BE49-F238E27FC236}">
                  <a16:creationId xmlns:a16="http://schemas.microsoft.com/office/drawing/2014/main" id="{DCF74387-A0D5-4591-A830-C5D5254D6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5478" y="3721330"/>
              <a:ext cx="2478954" cy="1312842"/>
            </a:xfrm>
            <a:prstGeom prst="rect">
              <a:avLst/>
            </a:prstGeom>
          </p:spPr>
        </p:pic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1FA551F-2B82-4D67-8A38-DA983F66E0E5}"/>
                </a:ext>
              </a:extLst>
            </p:cNvPr>
            <p:cNvSpPr/>
            <p:nvPr/>
          </p:nvSpPr>
          <p:spPr bwMode="auto">
            <a:xfrm>
              <a:off x="8064168" y="3699000"/>
              <a:ext cx="3608116" cy="1395000"/>
            </a:xfrm>
            <a:prstGeom prst="roundRect">
              <a:avLst/>
            </a:prstGeom>
            <a:noFill/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82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5FB3-68F2-49D8-A153-8BAD1305E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22D599-06AA-45AE-9605-321A51F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Partners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F0F47A-D5A2-4B58-86D3-231F6505307D}"/>
              </a:ext>
            </a:extLst>
          </p:cNvPr>
          <p:cNvGrpSpPr/>
          <p:nvPr/>
        </p:nvGrpSpPr>
        <p:grpSpPr>
          <a:xfrm>
            <a:off x="786000" y="1764000"/>
            <a:ext cx="5037446" cy="1395000"/>
            <a:chOff x="3081000" y="1921500"/>
            <a:chExt cx="4950000" cy="1395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57B284-4FEE-41B6-B60C-8DED6CE13211}"/>
                </a:ext>
              </a:extLst>
            </p:cNvPr>
            <p:cNvSpPr/>
            <p:nvPr/>
          </p:nvSpPr>
          <p:spPr bwMode="auto">
            <a:xfrm>
              <a:off x="3081000" y="1921500"/>
              <a:ext cx="4950000" cy="1395000"/>
            </a:xfrm>
            <a:prstGeom prst="round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ln w="38100">
                  <a:solidFill>
                    <a:schemeClr val="tx1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7" name="Picture 6">
              <a:hlinkClick r:id="rId2"/>
              <a:extLst>
                <a:ext uri="{FF2B5EF4-FFF2-40B4-BE49-F238E27FC236}">
                  <a16:creationId xmlns:a16="http://schemas.microsoft.com/office/drawing/2014/main" id="{69E679E8-FC9D-4497-AFC1-FB5389A83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602" y="2034000"/>
              <a:ext cx="4632796" cy="11700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AD6623B-F4E3-4F01-B3FF-057EC7FC1943}"/>
              </a:ext>
            </a:extLst>
          </p:cNvPr>
          <p:cNvGrpSpPr/>
          <p:nvPr/>
        </p:nvGrpSpPr>
        <p:grpSpPr>
          <a:xfrm>
            <a:off x="786000" y="4239000"/>
            <a:ext cx="5037446" cy="2083029"/>
            <a:chOff x="5961000" y="3789000"/>
            <a:chExt cx="4680431" cy="2083029"/>
          </a:xfrm>
        </p:grpSpPr>
        <p:pic>
          <p:nvPicPr>
            <p:cNvPr id="9" name="Picture 8">
              <a:hlinkClick r:id="rId4"/>
              <a:extLst>
                <a:ext uri="{FF2B5EF4-FFF2-40B4-BE49-F238E27FC236}">
                  <a16:creationId xmlns:a16="http://schemas.microsoft.com/office/drawing/2014/main" id="{A102DB16-6761-4764-BC07-B36931CA1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1000" y="3789000"/>
              <a:ext cx="4680431" cy="208302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6B90379-E1AB-4035-8EFE-3131B5C65328}"/>
                </a:ext>
              </a:extLst>
            </p:cNvPr>
            <p:cNvSpPr/>
            <p:nvPr/>
          </p:nvSpPr>
          <p:spPr bwMode="auto">
            <a:xfrm>
              <a:off x="5961000" y="3789000"/>
              <a:ext cx="4680000" cy="2070000"/>
            </a:xfrm>
            <a:prstGeom prst="roundRect">
              <a:avLst/>
            </a:prstGeom>
            <a:noFill/>
            <a:ln w="12700">
              <a:solidFill>
                <a:schemeClr val="accent6">
                  <a:lumMod val="1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ln w="38100">
                  <a:solidFill>
                    <a:schemeClr val="tx1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480B9A-F55F-41E5-97E2-8DF2421AADCE}"/>
              </a:ext>
            </a:extLst>
          </p:cNvPr>
          <p:cNvGrpSpPr/>
          <p:nvPr/>
        </p:nvGrpSpPr>
        <p:grpSpPr>
          <a:xfrm>
            <a:off x="7131000" y="2034000"/>
            <a:ext cx="4113596" cy="3753000"/>
            <a:chOff x="7131000" y="2169000"/>
            <a:chExt cx="4113596" cy="3753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48BF3FF-FC23-42AF-80BB-6EF6A2E7D2DE}"/>
                </a:ext>
              </a:extLst>
            </p:cNvPr>
            <p:cNvSpPr/>
            <p:nvPr/>
          </p:nvSpPr>
          <p:spPr bwMode="auto">
            <a:xfrm>
              <a:off x="7131000" y="2934000"/>
              <a:ext cx="4113596" cy="2160000"/>
            </a:xfrm>
            <a:prstGeom prst="round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4F98D6B-A014-49DE-BFE5-4440AB634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11000" y="2169000"/>
              <a:ext cx="3753000" cy="375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75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3523-E3F7-4452-A283-F9A2CBDBED9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Course Objectives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8D315A-6C16-4DEB-B5E3-DB0BB0954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1"/>
            <a:ext cx="5318632" cy="307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3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96766" y="1121143"/>
            <a:ext cx="10129234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Working with linear data structures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Lists</a:t>
            </a:r>
          </a:p>
          <a:p>
            <a:pPr>
              <a:buClr>
                <a:schemeClr val="tx1"/>
              </a:buClr>
            </a:pPr>
            <a:r>
              <a:rPr lang="en-US" dirty="0"/>
              <a:t>Defining functions and simple classes</a:t>
            </a:r>
          </a:p>
          <a:p>
            <a:pPr>
              <a:buClr>
                <a:schemeClr val="tx1"/>
              </a:buClr>
            </a:pPr>
            <a:r>
              <a:rPr lang="en-US" dirty="0"/>
              <a:t>Working with objects</a:t>
            </a:r>
          </a:p>
          <a:p>
            <a:pPr>
              <a:buClr>
                <a:schemeClr val="tx1"/>
              </a:buClr>
            </a:pPr>
            <a:r>
              <a:rPr lang="en-US" dirty="0"/>
              <a:t>Processing and manipulating strings</a:t>
            </a:r>
            <a:endParaRPr lang="bg-BG" dirty="0"/>
          </a:p>
          <a:p>
            <a:pPr>
              <a:buClr>
                <a:schemeClr val="tx1"/>
              </a:buClr>
            </a:pPr>
            <a:r>
              <a:rPr lang="en-US" dirty="0"/>
              <a:t>Regular expressions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Fundamentals Objectives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42C0CCC-1CF3-42D7-A241-B0B84A9456F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67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2AC9B3-CD5E-485F-AC84-B066819DD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7400" y="991425"/>
            <a:ext cx="9927138" cy="5714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Mid Exam – 4 hours</a:t>
            </a:r>
          </a:p>
          <a:p>
            <a:pPr lvl="1"/>
            <a:r>
              <a:rPr lang="en-GB" dirty="0"/>
              <a:t>3 practical problems</a:t>
            </a:r>
          </a:p>
          <a:p>
            <a:pPr lvl="2"/>
            <a:r>
              <a:rPr lang="en-GB" dirty="0"/>
              <a:t>Conditional Statements and Loops</a:t>
            </a:r>
          </a:p>
          <a:p>
            <a:pPr lvl="2"/>
            <a:r>
              <a:rPr lang="en-GB" dirty="0"/>
              <a:t>Linear Data Structures – Lists</a:t>
            </a:r>
          </a:p>
          <a:p>
            <a:pPr marL="0" indent="0">
              <a:buNone/>
            </a:pPr>
            <a:r>
              <a:rPr lang="en-GB" dirty="0"/>
              <a:t>Final Exam</a:t>
            </a:r>
            <a:r>
              <a:rPr lang="bg-BG" dirty="0"/>
              <a:t> – 4 </a:t>
            </a:r>
            <a:r>
              <a:rPr lang="en-US" dirty="0"/>
              <a:t>hours</a:t>
            </a:r>
            <a:endParaRPr lang="en-GB" dirty="0"/>
          </a:p>
          <a:p>
            <a:pPr lvl="1"/>
            <a:r>
              <a:rPr lang="en-GB" dirty="0"/>
              <a:t>3 practical problems</a:t>
            </a:r>
          </a:p>
          <a:p>
            <a:pPr lvl="2"/>
            <a:r>
              <a:rPr lang="en-GB" dirty="0"/>
              <a:t>Dictionaries</a:t>
            </a:r>
          </a:p>
          <a:p>
            <a:pPr lvl="2"/>
            <a:r>
              <a:rPr lang="en-GB" dirty="0"/>
              <a:t>Strings and Text Processing</a:t>
            </a:r>
          </a:p>
          <a:p>
            <a:pPr lvl="2"/>
            <a:r>
              <a:rPr lang="en-GB" dirty="0"/>
              <a:t>Regular Expressions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710A67-8258-40BF-92EB-5591C8FB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Programming Exam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60CF927-C6E1-4F2A-BE4B-868522BEE90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1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2AC9B3-CD5E-485F-AC84-B066819DD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will have </a:t>
            </a:r>
            <a:r>
              <a:rPr lang="en-GB" b="1" dirty="0">
                <a:solidFill>
                  <a:schemeClr val="bg1"/>
                </a:solidFill>
              </a:rPr>
              <a:t>30 minutes </a:t>
            </a:r>
            <a:r>
              <a:rPr lang="en-GB" dirty="0"/>
              <a:t>once you enter</a:t>
            </a:r>
          </a:p>
          <a:p>
            <a:pPr lvl="1"/>
            <a:r>
              <a:rPr lang="en-US" dirty="0"/>
              <a:t>Multiple-choice with </a:t>
            </a:r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correct answer</a:t>
            </a:r>
          </a:p>
          <a:p>
            <a:pPr lvl="1"/>
            <a:r>
              <a:rPr lang="en-US" dirty="0"/>
              <a:t>Test will be in English</a:t>
            </a:r>
          </a:p>
          <a:p>
            <a:r>
              <a:rPr lang="en-GB" dirty="0"/>
              <a:t>Automated quiz system</a:t>
            </a:r>
            <a:endParaRPr lang="bg-BG" dirty="0"/>
          </a:p>
          <a:p>
            <a:r>
              <a:rPr lang="en-GB" dirty="0"/>
              <a:t>Available online </a:t>
            </a:r>
            <a:r>
              <a:rPr lang="en-GB" b="1" dirty="0">
                <a:solidFill>
                  <a:schemeClr val="bg1"/>
                </a:solidFill>
              </a:rPr>
              <a:t>on the day </a:t>
            </a:r>
            <a:r>
              <a:rPr lang="en-GB" dirty="0"/>
              <a:t>of the practical exam</a:t>
            </a:r>
          </a:p>
          <a:p>
            <a:pPr lvl="1"/>
            <a:r>
              <a:rPr lang="en-GB" dirty="0"/>
              <a:t>You can submit your answers just </a:t>
            </a:r>
            <a:r>
              <a:rPr lang="en-GB" b="1" dirty="0">
                <a:solidFill>
                  <a:schemeClr val="bg1"/>
                </a:solidFill>
              </a:rPr>
              <a:t>one time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710A67-8258-40BF-92EB-5591C8FB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Theoretical Exam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B0E22FB-38F2-4543-B938-068E58F2C63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15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A970BB-A8E1-4981-AEF9-56E0D4D8105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The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D8692-CA7F-467D-B3BA-6F205A487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066800"/>
            <a:ext cx="1822172" cy="312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4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887FCE60-E079-4329-90A8-C8783EF6B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196125"/>
            <a:ext cx="12008498" cy="5528766"/>
          </a:xfrm>
        </p:spPr>
        <p:txBody>
          <a:bodyPr>
            <a:normAutofit/>
          </a:bodyPr>
          <a:lstStyle/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3400" dirty="0"/>
              <a:t>Python Software Engineer at IQVIA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3400" dirty="0"/>
              <a:t>Full stack freelance developer </a:t>
            </a:r>
            <a:endParaRPr lang="bg-BG" sz="3400" dirty="0"/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Python, Django </a:t>
            </a:r>
            <a:endParaRPr lang="bg-BG" sz="3400" dirty="0"/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C#, Angular</a:t>
            </a:r>
            <a:endParaRPr lang="bg-BG" sz="3400" dirty="0"/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HTML,</a:t>
            </a:r>
            <a:r>
              <a:rPr lang="bg-BG" sz="3400" dirty="0"/>
              <a:t> </a:t>
            </a:r>
            <a:r>
              <a:rPr lang="en-US" sz="3400" dirty="0"/>
              <a:t>CSS</a:t>
            </a:r>
            <a:endParaRPr lang="bg-BG" sz="3400" dirty="0"/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jQuery, Flask, Docker</a:t>
            </a:r>
            <a:endParaRPr lang="bg-BG" sz="3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Ines Ivanova</a:t>
            </a:r>
            <a:endParaRPr lang="bg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07DC44-1711-45A5-8AC2-2C2AD98FFC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0" y="2010498"/>
            <a:ext cx="4798794" cy="3199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298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Kristiyan</a:t>
            </a:r>
            <a:r>
              <a:rPr lang="en-US" dirty="0"/>
              <a:t> Ivanov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64988" y="6397198"/>
            <a:ext cx="428710" cy="30884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7" name="Picture 3" descr="Kristiyan Ivanov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608"/>
          <a:stretch/>
        </p:blipFill>
        <p:spPr bwMode="auto">
          <a:xfrm>
            <a:off x="8426783" y="1379291"/>
            <a:ext cx="3352560" cy="4304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EC9C067-A013-4441-BAA0-8936A1190D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96125"/>
            <a:ext cx="12008498" cy="5528766"/>
          </a:xfrm>
        </p:spPr>
        <p:txBody>
          <a:bodyPr>
            <a:normAutofit/>
          </a:bodyPr>
          <a:lstStyle/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Top Student @ SoftUni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Technical Trainer @ SoftUni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Student @ Technical University of Sofia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Interests include mechanics and electronics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Automotive Software Development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Interested in coding with C#, Python, C++</a:t>
            </a:r>
          </a:p>
        </p:txBody>
      </p:sp>
    </p:spTree>
    <p:extLst>
      <p:ext uri="{BB962C8B-B14F-4D97-AF65-F5344CB8AC3E}">
        <p14:creationId xmlns:p14="http://schemas.microsoft.com/office/powerpoint/2010/main" val="318705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329D-9667-45C7-B830-3ED6714EA7D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Course Organization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8B2E8-FA08-4AD1-ADB4-68B9103E8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406863"/>
            <a:ext cx="2833726" cy="223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8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E09F0EE8-F31A-4D40-9535-320B3B8E4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Fundamentals</a:t>
            </a:r>
            <a:r>
              <a:rPr lang="bg-BG" dirty="0"/>
              <a:t> </a:t>
            </a:r>
            <a:r>
              <a:rPr lang="en-US" dirty="0"/>
              <a:t>Module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902" y="1990563"/>
            <a:ext cx="11337898" cy="532600"/>
            <a:chOff x="395314" y="1838163"/>
            <a:chExt cx="9280498" cy="532600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395314" y="2097141"/>
              <a:ext cx="9280498" cy="0"/>
            </a:xfrm>
            <a:prstGeom prst="line">
              <a:avLst/>
            </a:prstGeom>
            <a:ln w="2857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11822" y="1838163"/>
              <a:ext cx="0" cy="517957"/>
            </a:xfrm>
            <a:prstGeom prst="line">
              <a:avLst/>
            </a:prstGeom>
            <a:ln w="2857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5622647" y="1852806"/>
              <a:ext cx="0" cy="517957"/>
            </a:xfrm>
            <a:prstGeom prst="line">
              <a:avLst/>
            </a:prstGeom>
            <a:ln w="2857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881278" y="1971313"/>
              <a:ext cx="0" cy="258978"/>
            </a:xfrm>
            <a:prstGeom prst="line">
              <a:avLst/>
            </a:prstGeom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9580156" y="1852806"/>
              <a:ext cx="0" cy="517957"/>
            </a:xfrm>
            <a:prstGeom prst="line">
              <a:avLst/>
            </a:prstGeom>
            <a:ln w="2857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cxnSpLocks/>
            </p:cNvCxnSpPr>
            <p:nvPr/>
          </p:nvCxnSpPr>
          <p:spPr>
            <a:xfrm>
              <a:off x="6806673" y="1981200"/>
              <a:ext cx="0" cy="258978"/>
            </a:xfrm>
            <a:prstGeom prst="line">
              <a:avLst/>
            </a:prstGeom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189064" y="1985956"/>
              <a:ext cx="0" cy="258978"/>
            </a:xfrm>
            <a:prstGeom prst="line">
              <a:avLst/>
            </a:prstGeom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577207" y="1494769"/>
            <a:ext cx="1589089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bg-BG" sz="2000" b="1" dirty="0"/>
              <a:t>1</a:t>
            </a:r>
            <a:r>
              <a:rPr lang="en-US" sz="2000" b="1" dirty="0"/>
              <a:t>7-May-2021</a:t>
            </a:r>
            <a:endParaRPr lang="bg-BG" sz="2000" b="1" dirty="0">
              <a:cs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109253" y="1502420"/>
            <a:ext cx="153599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 dirty="0"/>
              <a:t>20-Aug-2021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34FB44A-DBCC-4C07-81FF-696D35B2EA6B}"/>
              </a:ext>
            </a:extLst>
          </p:cNvPr>
          <p:cNvCxnSpPr>
            <a:cxnSpLocks/>
          </p:cNvCxnSpPr>
          <p:nvPr/>
        </p:nvCxnSpPr>
        <p:spPr>
          <a:xfrm>
            <a:off x="10210800" y="2120052"/>
            <a:ext cx="0" cy="258978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E457939-1894-404F-8183-80FA38B6E6DF}"/>
              </a:ext>
            </a:extLst>
          </p:cNvPr>
          <p:cNvSpPr/>
          <p:nvPr/>
        </p:nvSpPr>
        <p:spPr bwMode="auto">
          <a:xfrm>
            <a:off x="762008" y="2876044"/>
            <a:ext cx="5714986" cy="304961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Fundamentals</a:t>
            </a: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12 weeks * 3 times / week</a:t>
            </a: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credits</a:t>
            </a: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Start: 17-May-2021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 Exam: 10-Jul-2021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Theoretical Exam: 1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-Aug-2021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</a:t>
            </a:r>
            <a:r>
              <a:rPr lang="en-US"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xam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-Aug-2021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58DD2F-E922-4AEE-8C00-EF533916B367}"/>
              </a:ext>
            </a:extLst>
          </p:cNvPr>
          <p:cNvSpPr/>
          <p:nvPr/>
        </p:nvSpPr>
        <p:spPr bwMode="auto">
          <a:xfrm>
            <a:off x="7010400" y="2876044"/>
            <a:ext cx="4267200" cy="304961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Re-Take Exams</a:t>
            </a: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 Exam Retake: 17-Aug-2021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Theoretical Exam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Retake: 20-Aug-2021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Exam Retake: 20-Aug-2021</a:t>
            </a:r>
            <a:endParaRPr lang="bg-BG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AF716D-B52E-49E2-89FD-4BD24DC95A8C}"/>
              </a:ext>
            </a:extLst>
          </p:cNvPr>
          <p:cNvSpPr txBox="1"/>
          <p:nvPr/>
        </p:nvSpPr>
        <p:spPr>
          <a:xfrm>
            <a:off x="5257800" y="1499788"/>
            <a:ext cx="153599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 dirty="0"/>
              <a:t>1</a:t>
            </a:r>
            <a:r>
              <a:rPr lang="bg-BG" sz="2000" b="1" dirty="0"/>
              <a:t>4</a:t>
            </a:r>
            <a:r>
              <a:rPr lang="en-US" sz="2000" b="1" dirty="0"/>
              <a:t>-Aug-2021</a:t>
            </a:r>
            <a:endParaRPr lang="bg-BG" sz="2000" b="1" dirty="0">
              <a:cs typeface="Calibri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A9EF4A-5A53-4B51-BA56-6BBDA3AC8980}"/>
              </a:ext>
            </a:extLst>
          </p:cNvPr>
          <p:cNvCxnSpPr/>
          <p:nvPr/>
        </p:nvCxnSpPr>
        <p:spPr>
          <a:xfrm>
            <a:off x="6248400" y="2120052"/>
            <a:ext cx="0" cy="258978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00896" y="1494769"/>
            <a:ext cx="1406154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 dirty="0"/>
              <a:t>10-Jul-2021</a:t>
            </a:r>
            <a:endParaRPr lang="bg-BG" sz="2000" b="1" dirty="0"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C641A-6CB2-4658-8DDA-F88FED747E89}"/>
              </a:ext>
            </a:extLst>
          </p:cNvPr>
          <p:cNvSpPr txBox="1"/>
          <p:nvPr/>
        </p:nvSpPr>
        <p:spPr>
          <a:xfrm>
            <a:off x="8001063" y="1499788"/>
            <a:ext cx="153599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 dirty="0"/>
              <a:t>17-Aug-2021</a:t>
            </a:r>
          </a:p>
        </p:txBody>
      </p:sp>
    </p:spTree>
    <p:extLst>
      <p:ext uri="{BB962C8B-B14F-4D97-AF65-F5344CB8AC3E}">
        <p14:creationId xmlns:p14="http://schemas.microsoft.com/office/powerpoint/2010/main" val="15723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5" grpId="0" animBg="1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68927FBD-B8F6-444E-A489-F0E8DB184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Your homework is mainly work in class</a:t>
            </a:r>
          </a:p>
          <a:p>
            <a:pPr lvl="1"/>
            <a:r>
              <a:rPr lang="en-US" dirty="0"/>
              <a:t>Lesson days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slides + live demos + exercises</a:t>
            </a:r>
          </a:p>
          <a:p>
            <a:pPr lvl="1"/>
            <a:r>
              <a:rPr lang="en-US" dirty="0"/>
              <a:t>Exercise days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only exercises</a:t>
            </a:r>
          </a:p>
          <a:p>
            <a:r>
              <a:rPr lang="en-US" dirty="0"/>
              <a:t>How to submit your homework?</a:t>
            </a:r>
          </a:p>
          <a:p>
            <a:pPr lvl="1"/>
            <a:r>
              <a:rPr lang="en-US" dirty="0"/>
              <a:t>Submitted in the judge system</a:t>
            </a:r>
          </a:p>
          <a:p>
            <a:r>
              <a:rPr lang="en-US" dirty="0"/>
              <a:t>Do your homework when it's due</a:t>
            </a:r>
          </a:p>
          <a:p>
            <a:pPr lvl="1"/>
            <a:r>
              <a:rPr lang="en-US" dirty="0"/>
              <a:t>Assignments pile up quickly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Assignments &amp; Exercises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251CBD-913C-42B3-BA69-E7E7F60C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665" y="2792421"/>
            <a:ext cx="392567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6F07B7-41D9-4789-AE63-FAAE5665B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00" y="1650693"/>
            <a:ext cx="5207308" cy="5207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F67325-2631-4874-9B72-1F4B13FA342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263029">
            <a:off x="1265381" y="1879027"/>
            <a:ext cx="2948472" cy="34559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9E4AE8-E6EF-49CD-943C-B0B0BE0F6DCC}"/>
              </a:ext>
            </a:extLst>
          </p:cNvPr>
          <p:cNvSpPr txBox="1"/>
          <p:nvPr/>
        </p:nvSpPr>
        <p:spPr>
          <a:xfrm>
            <a:off x="1394244" y="2786253"/>
            <a:ext cx="1959520" cy="12854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2300" b="1" dirty="0"/>
              <a:t>Practical </a:t>
            </a:r>
            <a:br>
              <a:rPr lang="en-US" sz="2300" b="1" dirty="0"/>
            </a:br>
            <a:r>
              <a:rPr lang="en-US" sz="2300" b="1" dirty="0"/>
              <a:t>Exam</a:t>
            </a:r>
            <a:br>
              <a:rPr lang="bg-BG" sz="2300" b="1" dirty="0"/>
            </a:br>
            <a:r>
              <a:rPr lang="bg-BG" sz="2300" b="1" dirty="0"/>
              <a:t>100%</a:t>
            </a:r>
            <a:endParaRPr lang="en-US" sz="23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555B9F-555F-4F25-9E77-9B48FC8B058F}"/>
              </a:ext>
            </a:extLst>
          </p:cNvPr>
          <p:cNvSpPr txBox="1"/>
          <p:nvPr/>
        </p:nvSpPr>
        <p:spPr>
          <a:xfrm>
            <a:off x="4721263" y="3961799"/>
            <a:ext cx="2196785" cy="5850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</a:rPr>
              <a:t>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09460-D29B-4D4D-B630-879EE0BA7C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3245302">
            <a:off x="7120999" y="2270282"/>
            <a:ext cx="2948472" cy="34559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05ED6E-1EBA-4D38-BE25-10051C8F2CC7}"/>
              </a:ext>
            </a:extLst>
          </p:cNvPr>
          <p:cNvSpPr txBox="1"/>
          <p:nvPr/>
        </p:nvSpPr>
        <p:spPr>
          <a:xfrm>
            <a:off x="8004904" y="3276300"/>
            <a:ext cx="1911099" cy="12854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2400" b="1" dirty="0"/>
              <a:t>Homework</a:t>
            </a:r>
            <a:br>
              <a:rPr lang="bg-BG" sz="2400" b="1" dirty="0"/>
            </a:br>
            <a:r>
              <a:rPr lang="bg-BG" sz="2400" b="1" dirty="0"/>
              <a:t>5%</a:t>
            </a:r>
            <a:endParaRPr lang="en-US" sz="2400" b="1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E3DCB63F-FD44-4609-977A-22F2E45969E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C7516-1DB3-4F3B-8E64-B6B5BCB7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SoftUni</a:t>
            </a:r>
            <a:r>
              <a:rPr lang="en-US" dirty="0"/>
              <a:t> Certificate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543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6F07B7-41D9-4789-AE63-FAAE5665B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000" y="1596693"/>
            <a:ext cx="5207308" cy="52073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555B9F-555F-4F25-9E77-9B48FC8B058F}"/>
              </a:ext>
            </a:extLst>
          </p:cNvPr>
          <p:cNvSpPr txBox="1"/>
          <p:nvPr/>
        </p:nvSpPr>
        <p:spPr>
          <a:xfrm>
            <a:off x="4406263" y="3907799"/>
            <a:ext cx="2196785" cy="5850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</a:rPr>
              <a:t>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09460-D29B-4D4D-B630-879EE0BA7C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3471004">
            <a:off x="6959276" y="1843712"/>
            <a:ext cx="2948472" cy="34559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05ED6E-1EBA-4D38-BE25-10051C8F2CC7}"/>
              </a:ext>
            </a:extLst>
          </p:cNvPr>
          <p:cNvSpPr txBox="1"/>
          <p:nvPr/>
        </p:nvSpPr>
        <p:spPr>
          <a:xfrm>
            <a:off x="7905389" y="2928955"/>
            <a:ext cx="1911099" cy="12854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2400" b="1" dirty="0"/>
              <a:t>Theoretical </a:t>
            </a:r>
            <a:br>
              <a:rPr lang="en-US" sz="2400" b="1" dirty="0"/>
            </a:br>
            <a:r>
              <a:rPr lang="en-US" sz="2400" b="1" dirty="0"/>
              <a:t>Exam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E3DCB63F-FD44-4609-977A-22F2E45969E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C7516-1DB3-4F3B-8E64-B6B5BCB7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CPE Certificate</a:t>
            </a:r>
            <a:endParaRPr lang="bg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67325-2631-4874-9B72-1F4B13FA342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263029">
            <a:off x="947889" y="1447916"/>
            <a:ext cx="2948472" cy="3455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9E4AE8-E6EF-49CD-943C-B0B0BE0F6DCC}"/>
              </a:ext>
            </a:extLst>
          </p:cNvPr>
          <p:cNvSpPr txBox="1"/>
          <p:nvPr/>
        </p:nvSpPr>
        <p:spPr>
          <a:xfrm>
            <a:off x="1056000" y="2577971"/>
            <a:ext cx="1959520" cy="128549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defTabSz="1218438" latinLnBrk="1">
              <a:lnSpc>
                <a:spcPct val="105000"/>
              </a:lnSpc>
              <a:spcBef>
                <a:spcPts val="12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600"/>
            </a:lvl1pPr>
            <a:lvl2pPr marL="989981" lvl="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400"/>
            </a:lvl2pPr>
            <a:lvl3pPr marL="1523048" lvl="2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§"/>
              <a:defRPr sz="3200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 algn="ctr">
              <a:buNone/>
            </a:pPr>
            <a:r>
              <a:rPr lang="en-US" sz="2300" b="1" dirty="0"/>
              <a:t>Practical </a:t>
            </a:r>
            <a:br>
              <a:rPr lang="en-US" sz="2300" b="1" dirty="0"/>
            </a:br>
            <a:r>
              <a:rPr lang="en-US" sz="2300" b="1" dirty="0"/>
              <a:t>Exam</a:t>
            </a:r>
          </a:p>
        </p:txBody>
      </p:sp>
    </p:spTree>
    <p:extLst>
      <p:ext uri="{BB962C8B-B14F-4D97-AF65-F5344CB8AC3E}">
        <p14:creationId xmlns:p14="http://schemas.microsoft.com/office/powerpoint/2010/main" val="277484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07EBE1C7-61DB-4C7F-9C93-0B2C04C3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Official web site: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 err="1"/>
              <a:t>Softuni</a:t>
            </a:r>
            <a:r>
              <a:rPr lang="en-US" dirty="0"/>
              <a:t> Python Community group: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 Site, Forum and FB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000" y="1902701"/>
            <a:ext cx="10237134" cy="604485"/>
          </a:xfrm>
          <a:prstGeom prst="roundRect">
            <a:avLst>
              <a:gd name="adj" fmla="val 5953"/>
            </a:avLst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804" latinLnBrk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hlinkClick r:id="rId3"/>
              </a:rPr>
              <a:t>https://softuni.bg/courses/programming-fundamentals-csharp-java-js-python</a:t>
            </a:r>
            <a:endParaRPr lang="en-US" sz="2399" b="1" noProof="1">
              <a:solidFill>
                <a:schemeClr val="bg1"/>
              </a:solidFill>
              <a:latin typeface="Consolas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889" y="1693774"/>
            <a:ext cx="1022338" cy="1022338"/>
          </a:xfrm>
          <a:prstGeom prst="rect">
            <a:avLst/>
          </a:prstGeom>
        </p:spPr>
      </p:pic>
      <p:pic>
        <p:nvPicPr>
          <p:cNvPr id="1032" name="Picture 8" descr="Резултат с изображение за facebook icon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890" y="3940073"/>
            <a:ext cx="1022337" cy="102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6"/>
          <p:cNvSpPr/>
          <p:nvPr/>
        </p:nvSpPr>
        <p:spPr>
          <a:xfrm>
            <a:off x="246000" y="4149000"/>
            <a:ext cx="10273653" cy="604485"/>
          </a:xfrm>
          <a:prstGeom prst="roundRect">
            <a:avLst>
              <a:gd name="adj" fmla="val 5953"/>
            </a:avLst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804" latinLnBrk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hlinkClick r:id="rId6"/>
              </a:rPr>
              <a:t>https://www.facebook.com/groups/SoftUniPythonCommunity</a:t>
            </a:r>
            <a:endParaRPr lang="en-US" sz="2200" b="1" noProof="1">
              <a:solidFill>
                <a:schemeClr val="bg1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64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29520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812BDA1-42C1-410B-9552-9B6AC5183D4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22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EF88F597-005C-4085-8D8B-3055447A2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7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1_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3494</TotalTime>
  <Words>698</Words>
  <Application>Microsoft Office PowerPoint</Application>
  <PresentationFormat>Widescreen</PresentationFormat>
  <Paragraphs>152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Wingdings</vt:lpstr>
      <vt:lpstr>Wingdings 2</vt:lpstr>
      <vt:lpstr>1_SoftUni</vt:lpstr>
      <vt:lpstr>Python Fundamentals</vt:lpstr>
      <vt:lpstr>Table of Contents</vt:lpstr>
      <vt:lpstr>Have a Question?</vt:lpstr>
      <vt:lpstr>SoftUni Diamond Partners</vt:lpstr>
      <vt:lpstr>Educational Partners</vt:lpstr>
      <vt:lpstr>Course Objectives</vt:lpstr>
      <vt:lpstr>Python Fundamentals Objectives</vt:lpstr>
      <vt:lpstr>Practical Programming Exam</vt:lpstr>
      <vt:lpstr>Theoretical Exam</vt:lpstr>
      <vt:lpstr>The Team</vt:lpstr>
      <vt:lpstr>Ines Ivanova</vt:lpstr>
      <vt:lpstr>Kristiyan Ivanov</vt:lpstr>
      <vt:lpstr>Course Organization</vt:lpstr>
      <vt:lpstr>Python Fundamentals Module</vt:lpstr>
      <vt:lpstr>Homework Assignments &amp; Exercises</vt:lpstr>
      <vt:lpstr>SoftUni Certificate</vt:lpstr>
      <vt:lpstr>CPE Certificate</vt:lpstr>
      <vt:lpstr>Course Web Site, Forum and FB Group</vt:lpstr>
      <vt:lpstr>Questions?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- Course Intro</dc:title>
  <dc:subject>Technology Fundamentals  – Practical Training Course @ SoftUni</dc:subject>
  <dc:creator>Software University</dc:creator>
  <cp:keywords>programing fundamentals; python; 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Aleksandra Raykova</cp:lastModifiedBy>
  <cp:revision>99</cp:revision>
  <dcterms:created xsi:type="dcterms:W3CDTF">2018-05-23T13:08:44Z</dcterms:created>
  <dcterms:modified xsi:type="dcterms:W3CDTF">2021-05-19T16:54:11Z</dcterms:modified>
  <cp:category>Python Fundamentals Course @ SoftUni: https://softuni.bg/trainings/2442/python-fundamentals-september-2019</cp:category>
</cp:coreProperties>
</file>